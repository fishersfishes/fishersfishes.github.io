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6"/>
  </p:notesMasterIdLst>
  <p:sldIdLst>
    <p:sldId id="360" r:id="rId2"/>
    <p:sldId id="350" r:id="rId3"/>
    <p:sldId id="420" r:id="rId4"/>
    <p:sldId id="421" r:id="rId5"/>
    <p:sldId id="256" r:id="rId6"/>
    <p:sldId id="371" r:id="rId7"/>
    <p:sldId id="295" r:id="rId8"/>
    <p:sldId id="372" r:id="rId9"/>
    <p:sldId id="376" r:id="rId10"/>
    <p:sldId id="414" r:id="rId11"/>
    <p:sldId id="422" r:id="rId12"/>
    <p:sldId id="373" r:id="rId13"/>
    <p:sldId id="374" r:id="rId14"/>
    <p:sldId id="377" r:id="rId15"/>
    <p:sldId id="338" r:id="rId16"/>
    <p:sldId id="424" r:id="rId17"/>
    <p:sldId id="268" r:id="rId18"/>
    <p:sldId id="341" r:id="rId19"/>
    <p:sldId id="345" r:id="rId20"/>
    <p:sldId id="355" r:id="rId21"/>
    <p:sldId id="356" r:id="rId22"/>
    <p:sldId id="378" r:id="rId23"/>
    <p:sldId id="357" r:id="rId24"/>
    <p:sldId id="358" r:id="rId25"/>
    <p:sldId id="318" r:id="rId26"/>
    <p:sldId id="379" r:id="rId27"/>
    <p:sldId id="391" r:id="rId28"/>
    <p:sldId id="382" r:id="rId29"/>
    <p:sldId id="383" r:id="rId30"/>
    <p:sldId id="381" r:id="rId31"/>
    <p:sldId id="392" r:id="rId32"/>
    <p:sldId id="393" r:id="rId33"/>
    <p:sldId id="394" r:id="rId34"/>
    <p:sldId id="384" r:id="rId35"/>
    <p:sldId id="387" r:id="rId36"/>
    <p:sldId id="388" r:id="rId37"/>
    <p:sldId id="389" r:id="rId38"/>
    <p:sldId id="390" r:id="rId39"/>
    <p:sldId id="415" r:id="rId40"/>
    <p:sldId id="416" r:id="rId41"/>
    <p:sldId id="417" r:id="rId42"/>
    <p:sldId id="418" r:id="rId43"/>
    <p:sldId id="419" r:id="rId44"/>
    <p:sldId id="404" r:id="rId45"/>
    <p:sldId id="306" r:id="rId46"/>
    <p:sldId id="423" r:id="rId47"/>
    <p:sldId id="375" r:id="rId48"/>
    <p:sldId id="316" r:id="rId49"/>
    <p:sldId id="317" r:id="rId50"/>
    <p:sldId id="301" r:id="rId51"/>
    <p:sldId id="346" r:id="rId52"/>
    <p:sldId id="339" r:id="rId53"/>
    <p:sldId id="405" r:id="rId54"/>
    <p:sldId id="406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8C2"/>
    <a:srgbClr val="B90EFF"/>
    <a:srgbClr val="FFFFFF"/>
    <a:srgbClr val="FFC000"/>
    <a:srgbClr val="3590CA"/>
    <a:srgbClr val="DA5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2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D0B74-E44D-4956-97AD-F892AAAA1CB7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A49D3-E599-4E20-900E-D5666A929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3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A625-03F2-4183-BA47-C66B5D62867A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3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9F9F-9D76-4200-9C9B-2B71FC218F81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7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27DB2-3E44-40A4-8183-67685AA017A1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05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1C44-5BBB-4386-9288-DF21ED615DC0}" type="datetime1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59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29F76-E0A1-4A0D-9C92-14B075749B23}" type="datetime1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517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F9AE-633D-4E05-9591-AB2626E40954}" type="datetime1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6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Accelerations in microbial ecosystems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0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07081A4-2FCA-4C0B-B1D9-4DF270F461E3}" type="datetime1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Accelerations in microbial ecosystems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42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5431-621F-4A1B-8BB4-B560178D95C4}" type="datetime1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3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7CC2-253A-4D3D-AF42-D265CE84B48B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03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FFEE-E419-4030-9FD1-6D47A4D67220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87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4931DC1-AF97-43D1-8432-E450B1A10E8F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CCD4C8-8F42-4ECB-BFDA-B6F81272F34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27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1.png"/><Relationship Id="rId4" Type="http://schemas.openxmlformats.org/officeDocument/2006/relationships/image" Target="../media/image2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12" Type="http://schemas.openxmlformats.org/officeDocument/2006/relationships/image" Target="../media/image29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.png"/><Relationship Id="rId5" Type="http://schemas.openxmlformats.org/officeDocument/2006/relationships/image" Target="../media/image260.png"/><Relationship Id="rId10" Type="http://schemas.openxmlformats.org/officeDocument/2006/relationships/image" Target="../media/image31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12" Type="http://schemas.openxmlformats.org/officeDocument/2006/relationships/image" Target="../media/image29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.png"/><Relationship Id="rId5" Type="http://schemas.openxmlformats.org/officeDocument/2006/relationships/image" Target="../media/image260.png"/><Relationship Id="rId10" Type="http://schemas.openxmlformats.org/officeDocument/2006/relationships/image" Target="../media/image31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03.png"/><Relationship Id="rId7" Type="http://schemas.openxmlformats.org/officeDocument/2006/relationships/image" Target="../media/image8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105.png"/><Relationship Id="rId10" Type="http://schemas.openxmlformats.org/officeDocument/2006/relationships/image" Target="../media/image106.png"/><Relationship Id="rId4" Type="http://schemas.openxmlformats.org/officeDocument/2006/relationships/image" Target="../media/image104.png"/><Relationship Id="rId9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jpg"/><Relationship Id="rId5" Type="http://schemas.openxmlformats.org/officeDocument/2006/relationships/image" Target="../media/image126.png"/><Relationship Id="rId4" Type="http://schemas.openxmlformats.org/officeDocument/2006/relationships/image" Target="../media/image12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eg"/><Relationship Id="rId2" Type="http://schemas.openxmlformats.org/officeDocument/2006/relationships/image" Target="../media/image13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svg"/><Relationship Id="rId4" Type="http://schemas.openxmlformats.org/officeDocument/2006/relationships/image" Target="../media/image140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5271-A25D-C044-DDA1-CB966EF4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54" y="349858"/>
            <a:ext cx="3570136" cy="3079142"/>
          </a:xfrm>
        </p:spPr>
        <p:txBody>
          <a:bodyPr>
            <a:normAutofit/>
          </a:bodyPr>
          <a:lstStyle/>
          <a:p>
            <a:r>
              <a:rPr lang="en-GB" dirty="0"/>
              <a:t>Growth accelerations bridge the mechanistic and ecosystem scales in microbiomes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3B4DD-C274-45A9-3B08-24F5583DB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3954" y="4027336"/>
            <a:ext cx="3446890" cy="2242268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Oliver Meacock</a:t>
            </a:r>
          </a:p>
          <a:p>
            <a:r>
              <a:rPr lang="en-GB" sz="2000" dirty="0"/>
              <a:t>Physics of Life Fellow</a:t>
            </a:r>
          </a:p>
          <a:p>
            <a:r>
              <a:rPr lang="en-GB" sz="2000" dirty="0"/>
              <a:t>University of Sheffield</a:t>
            </a:r>
          </a:p>
          <a:p>
            <a:r>
              <a:rPr lang="en-GB" sz="2000" dirty="0"/>
              <a:t>Fisher’s fishes talk</a:t>
            </a:r>
          </a:p>
          <a:p>
            <a:r>
              <a:rPr lang="en-GB" sz="2000" dirty="0"/>
              <a:t>24/07/2026</a:t>
            </a:r>
          </a:p>
        </p:txBody>
      </p:sp>
      <p:pic>
        <p:nvPicPr>
          <p:cNvPr id="7" name="Picture 2" descr="Fastest Accelerating Cars To 60 mph (2019) | Top 10, Performance Figures |  Digital Trends">
            <a:extLst>
              <a:ext uri="{FF2B5EF4-FFF2-40B4-BE49-F238E27FC236}">
                <a16:creationId xmlns:a16="http://schemas.microsoft.com/office/drawing/2014/main" id="{B7228F09-9B4A-1357-1804-5A9DDCA0D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1" t="-222" r="-7925" b="222"/>
          <a:stretch/>
        </p:blipFill>
        <p:spPr bwMode="auto">
          <a:xfrm>
            <a:off x="4110680" y="-15240"/>
            <a:ext cx="88966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9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07D24-0A34-BBE7-1E75-A2F0DFE6CE5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M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icrobial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ecology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a practical discipline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3D1FF-1B3A-63FC-6E24-66EB87CF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594" y="1729789"/>
            <a:ext cx="2248139" cy="380109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D756C2-DF16-6320-4FBD-928FC8EA9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5781" y="5318620"/>
            <a:ext cx="710266" cy="509538"/>
          </a:xfrm>
          <a:prstGeom prst="rect">
            <a:avLst/>
          </a:prstGeom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C308B138-9A9F-5F73-9BEF-2A8B93AE789D}"/>
              </a:ext>
            </a:extLst>
          </p:cNvPr>
          <p:cNvCxnSpPr/>
          <p:nvPr/>
        </p:nvCxnSpPr>
        <p:spPr>
          <a:xfrm>
            <a:off x="5980678" y="4303552"/>
            <a:ext cx="1040236" cy="1015068"/>
          </a:xfrm>
          <a:prstGeom prst="curvedConnector3">
            <a:avLst>
              <a:gd name="adj1" fmla="val 1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7">
            <a:extLst>
              <a:ext uri="{FF2B5EF4-FFF2-40B4-BE49-F238E27FC236}">
                <a16:creationId xmlns:a16="http://schemas.microsoft.com/office/drawing/2014/main" id="{C6682B71-46EA-CABD-B62E-3AC4253DDE2C}"/>
              </a:ext>
            </a:extLst>
          </p:cNvPr>
          <p:cNvSpPr txBox="1"/>
          <p:nvPr/>
        </p:nvSpPr>
        <p:spPr>
          <a:xfrm>
            <a:off x="3997180" y="918610"/>
            <a:ext cx="2758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>
                <a:solidFill>
                  <a:srgbClr val="000000"/>
                </a:solidFill>
                <a:latin typeface="Arial Nova" panose="020B0504020202020204" pitchFamily="34" charset="0"/>
              </a:rPr>
              <a:t>Remove pathogens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2593B0C-9B54-CDEB-6AC0-B9F45F8353CC}"/>
              </a:ext>
            </a:extLst>
          </p:cNvPr>
          <p:cNvSpPr txBox="1"/>
          <p:nvPr/>
        </p:nvSpPr>
        <p:spPr>
          <a:xfrm>
            <a:off x="548579" y="918610"/>
            <a:ext cx="2758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>
                <a:solidFill>
                  <a:srgbClr val="000000"/>
                </a:solidFill>
                <a:latin typeface="Arial Nova" panose="020B0504020202020204" pitchFamily="34" charset="0"/>
              </a:rPr>
              <a:t>Add useful species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FB8550A-ADB7-340F-D61D-8CF5AA591917}"/>
              </a:ext>
            </a:extLst>
          </p:cNvPr>
          <p:cNvSpPr txBox="1"/>
          <p:nvPr/>
        </p:nvSpPr>
        <p:spPr>
          <a:xfrm>
            <a:off x="8297395" y="918610"/>
            <a:ext cx="297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>
                <a:solidFill>
                  <a:srgbClr val="000000"/>
                </a:solidFill>
                <a:latin typeface="Arial Nova" panose="020B0504020202020204" pitchFamily="34" charset="0"/>
              </a:rPr>
              <a:t>Assemble microbial factories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60CEF1-E889-E82F-A7BE-47CE285FE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260" y="1756598"/>
            <a:ext cx="3150768" cy="27190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1E08C5-9734-60AC-D8D8-2674B4AA9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867" y="4624150"/>
            <a:ext cx="3719554" cy="9607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A537D-FFCE-E11B-B37D-A4A2D36F1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09" y="1881365"/>
            <a:ext cx="2631196" cy="394679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1F3E0B3-2EE4-27BE-B9D3-6D683C0B2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225" y="3651367"/>
            <a:ext cx="386968" cy="633216"/>
          </a:xfrm>
          <a:prstGeom prst="rect">
            <a:avLst/>
          </a:prstGeom>
        </p:spPr>
      </p:pic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0814E85-3574-4179-253B-35238E48E930}"/>
              </a:ext>
            </a:extLst>
          </p:cNvPr>
          <p:cNvCxnSpPr>
            <a:cxnSpLocks/>
          </p:cNvCxnSpPr>
          <p:nvPr/>
        </p:nvCxnSpPr>
        <p:spPr>
          <a:xfrm>
            <a:off x="863685" y="4041302"/>
            <a:ext cx="900209" cy="849480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673B54-C6EA-26A2-0EDD-0F5B89526601}"/>
              </a:ext>
            </a:extLst>
          </p:cNvPr>
          <p:cNvCxnSpPr>
            <a:cxnSpLocks/>
          </p:cNvCxnSpPr>
          <p:nvPr/>
        </p:nvCxnSpPr>
        <p:spPr>
          <a:xfrm flipV="1">
            <a:off x="3743325" y="714375"/>
            <a:ext cx="0" cy="542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E0BB8D-2F20-FD16-31BC-A0CDE581F6FF}"/>
              </a:ext>
            </a:extLst>
          </p:cNvPr>
          <p:cNvCxnSpPr>
            <a:cxnSpLocks/>
          </p:cNvCxnSpPr>
          <p:nvPr/>
        </p:nvCxnSpPr>
        <p:spPr>
          <a:xfrm flipV="1">
            <a:off x="7620000" y="714375"/>
            <a:ext cx="0" cy="542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6DDBC-4DFA-A2B3-639D-152DB6E0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 err="1"/>
              <a:t>Accelerations</a:t>
            </a:r>
            <a:r>
              <a:rPr lang="fr-CH" dirty="0"/>
              <a:t> in </a:t>
            </a:r>
            <a:r>
              <a:rPr lang="fr-CH" dirty="0" err="1"/>
              <a:t>microbial</a:t>
            </a:r>
            <a:r>
              <a:rPr lang="fr-CH" dirty="0"/>
              <a:t> </a:t>
            </a:r>
            <a:r>
              <a:rPr lang="fr-CH" dirty="0" err="1"/>
              <a:t>ecosystems</a:t>
            </a:r>
            <a:endParaRPr lang="fr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21FAA-33C3-F72A-6E59-B109D1B2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2</a:t>
            </a:fld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6798E-C6C6-E4B8-903E-5173D9FEC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42274-11B8-4A82-AB61-C794BA92C2D7}" type="datetime1">
              <a:rPr lang="fr-CH" smtClean="0"/>
              <a:t>28.07.2026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1170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E2BB9-6AD1-A0CA-46D6-89C26663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FE6C9-0C12-65A2-4627-BCE476B8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4E8B-9D2C-C3C5-4CB9-803471A0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E549-E76E-CEE5-E01B-966F0A13BC8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Two modelling traditions: Phenomenological models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D367F8EC-AB85-53DA-A528-22B12130520B}"/>
                  </a:ext>
                </a:extLst>
              </p:cNvPr>
              <p:cNvSpPr txBox="1"/>
              <p:nvPr/>
            </p:nvSpPr>
            <p:spPr>
              <a:xfrm>
                <a:off x="890041" y="1971540"/>
                <a:ext cx="1638718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D367F8EC-AB85-53DA-A528-22B12130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41" y="1971540"/>
                <a:ext cx="1638718" cy="636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7">
            <a:extLst>
              <a:ext uri="{FF2B5EF4-FFF2-40B4-BE49-F238E27FC236}">
                <a16:creationId xmlns:a16="http://schemas.microsoft.com/office/drawing/2014/main" id="{53883003-88AF-6BDC-D9DF-8C8696160722}"/>
              </a:ext>
            </a:extLst>
          </p:cNvPr>
          <p:cNvSpPr txBox="1"/>
          <p:nvPr/>
        </p:nvSpPr>
        <p:spPr>
          <a:xfrm>
            <a:off x="330359" y="1414985"/>
            <a:ext cx="275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rgbClr val="000000"/>
                </a:solidFill>
                <a:latin typeface="Arial Nova" panose="020B0504020202020204" pitchFamily="34" charset="0"/>
              </a:rPr>
              <a:t>General form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EDE54-A23E-7BF0-53AD-D54270C5225F}"/>
              </a:ext>
            </a:extLst>
          </p:cNvPr>
          <p:cNvSpPr txBox="1"/>
          <p:nvPr/>
        </p:nvSpPr>
        <p:spPr>
          <a:xfrm>
            <a:off x="560944" y="4189493"/>
            <a:ext cx="2149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Density vector 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FF1EFE-5EEC-3D38-CD8F-C94712B49D33}"/>
                  </a:ext>
                </a:extLst>
              </p:cNvPr>
              <p:cNvSpPr txBox="1"/>
              <p:nvPr/>
            </p:nvSpPr>
            <p:spPr>
              <a:xfrm>
                <a:off x="769272" y="4614993"/>
                <a:ext cx="1626407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FF1EFE-5EEC-3D38-CD8F-C94712B49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72" y="4614993"/>
                <a:ext cx="1626407" cy="1113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7">
            <a:extLst>
              <a:ext uri="{FF2B5EF4-FFF2-40B4-BE49-F238E27FC236}">
                <a16:creationId xmlns:a16="http://schemas.microsoft.com/office/drawing/2014/main" id="{F07E9AB1-CF92-274D-30FD-244968BD580A}"/>
              </a:ext>
            </a:extLst>
          </p:cNvPr>
          <p:cNvSpPr txBox="1"/>
          <p:nvPr/>
        </p:nvSpPr>
        <p:spPr>
          <a:xfrm>
            <a:off x="330359" y="2617153"/>
            <a:ext cx="1880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Per-</a:t>
            </a:r>
            <a:r>
              <a:rPr lang="en-GB" dirty="0" err="1">
                <a:solidFill>
                  <a:srgbClr val="000000"/>
                </a:solidFill>
                <a:latin typeface="Arial Nova" panose="020B0504020202020204" pitchFamily="34" charset="0"/>
              </a:rPr>
              <a:t>captia</a:t>
            </a: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 growth rate (PCGR)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3DAAE62F-9869-E40C-BECD-2043F2F28A6A}"/>
              </a:ext>
            </a:extLst>
          </p:cNvPr>
          <p:cNvSpPr txBox="1"/>
          <p:nvPr/>
        </p:nvSpPr>
        <p:spPr>
          <a:xfrm>
            <a:off x="3813565" y="3152001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Coyte et al. (2015) </a:t>
            </a:r>
            <a:r>
              <a:rPr lang="en-GB" sz="1200" b="1" i="1" dirty="0">
                <a:latin typeface="Arial Nova" panose="020B0504020202020204" pitchFamily="34" charset="0"/>
              </a:rPr>
              <a:t>Science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713192-F787-8712-D0B8-E9BDEAA8D135}"/>
              </a:ext>
            </a:extLst>
          </p:cNvPr>
          <p:cNvGrpSpPr/>
          <p:nvPr/>
        </p:nvGrpSpPr>
        <p:grpSpPr>
          <a:xfrm>
            <a:off x="3813565" y="984072"/>
            <a:ext cx="3156578" cy="2194901"/>
            <a:chOff x="6237588" y="1414985"/>
            <a:chExt cx="2758358" cy="1875471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366A76F-62F2-7F66-B7F3-4E6C06DCC5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264" b="53889"/>
            <a:stretch/>
          </p:blipFill>
          <p:spPr bwMode="auto">
            <a:xfrm>
              <a:off x="6237588" y="1471851"/>
              <a:ext cx="2758358" cy="1818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5F20B5-E340-DD00-BDB8-D40A744DD2B3}"/>
                </a:ext>
              </a:extLst>
            </p:cNvPr>
            <p:cNvSpPr/>
            <p:nvPr/>
          </p:nvSpPr>
          <p:spPr>
            <a:xfrm>
              <a:off x="6237588" y="1414985"/>
              <a:ext cx="301235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7">
            <a:extLst>
              <a:ext uri="{FF2B5EF4-FFF2-40B4-BE49-F238E27FC236}">
                <a16:creationId xmlns:a16="http://schemas.microsoft.com/office/drawing/2014/main" id="{C7358EBC-3727-BB21-299B-96D27167AC87}"/>
              </a:ext>
            </a:extLst>
          </p:cNvPr>
          <p:cNvSpPr txBox="1"/>
          <p:nvPr/>
        </p:nvSpPr>
        <p:spPr>
          <a:xfrm>
            <a:off x="3211737" y="766131"/>
            <a:ext cx="436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Generalised Lotka-Volterra (</a:t>
            </a:r>
            <a:r>
              <a:rPr lang="en-GB" dirty="0" err="1">
                <a:solidFill>
                  <a:srgbClr val="000000"/>
                </a:solidFill>
                <a:latin typeface="Arial Nova" panose="020B0504020202020204" pitchFamily="34" charset="0"/>
              </a:rPr>
              <a:t>gLV</a:t>
            </a: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) model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6000170-8FD5-EF9C-7289-E9C4AFCB4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068" y="766131"/>
            <a:ext cx="3059821" cy="316181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75F35CA-0D51-61B7-63A2-82E4A836098D}"/>
              </a:ext>
            </a:extLst>
          </p:cNvPr>
          <p:cNvSpPr/>
          <p:nvPr/>
        </p:nvSpPr>
        <p:spPr>
          <a:xfrm>
            <a:off x="8012068" y="766131"/>
            <a:ext cx="28502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EF41D6CF-2780-6C6B-395A-47F961D9F58D}"/>
              </a:ext>
            </a:extLst>
          </p:cNvPr>
          <p:cNvSpPr txBox="1"/>
          <p:nvPr/>
        </p:nvSpPr>
        <p:spPr>
          <a:xfrm>
            <a:off x="8170427" y="3946637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Hatton et al. (2024) </a:t>
            </a:r>
            <a:r>
              <a:rPr lang="en-GB" sz="1200" b="1" i="1" dirty="0">
                <a:latin typeface="Arial Nova" panose="020B0504020202020204" pitchFamily="34" charset="0"/>
              </a:rPr>
              <a:t>Science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97A3043-496C-56FB-DDD0-58B8B2E02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311" y="3615560"/>
            <a:ext cx="3162741" cy="20291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A77CC61-C59C-4064-F3D4-CEFF29923E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942" y="3808099"/>
            <a:ext cx="314369" cy="175284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7BB796B-9B73-E49E-576E-E6070A0D04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6524" y="5626849"/>
            <a:ext cx="1495634" cy="314369"/>
          </a:xfrm>
          <a:prstGeom prst="rect">
            <a:avLst/>
          </a:prstGeom>
        </p:spPr>
      </p:pic>
      <p:sp>
        <p:nvSpPr>
          <p:cNvPr id="39" name="TextBox 3">
            <a:extLst>
              <a:ext uri="{FF2B5EF4-FFF2-40B4-BE49-F238E27FC236}">
                <a16:creationId xmlns:a16="http://schemas.microsoft.com/office/drawing/2014/main" id="{3A3416B3-0554-66CE-B924-6493E8270831}"/>
              </a:ext>
            </a:extLst>
          </p:cNvPr>
          <p:cNvSpPr txBox="1"/>
          <p:nvPr/>
        </p:nvSpPr>
        <p:spPr>
          <a:xfrm>
            <a:off x="4932126" y="5869406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 err="1">
                <a:latin typeface="Arial Nova" panose="020B0504020202020204" pitchFamily="34" charset="0"/>
              </a:rPr>
              <a:t>Sibly</a:t>
            </a:r>
            <a:r>
              <a:rPr lang="en-GB" sz="1200" b="1" dirty="0">
                <a:latin typeface="Arial Nova" panose="020B0504020202020204" pitchFamily="34" charset="0"/>
              </a:rPr>
              <a:t> and Hone (2002) </a:t>
            </a:r>
            <a:r>
              <a:rPr lang="en-GB" sz="1200" b="1" i="1" dirty="0">
                <a:latin typeface="Arial Nova" panose="020B0504020202020204" pitchFamily="34" charset="0"/>
              </a:rPr>
              <a:t>Phil. Trans. R. Soc. B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92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CCD0A-0684-B4FE-9365-F684DF64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D5D57-BBFB-7D2C-E317-A8DDECAA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4EF42-DAD9-34B3-4E78-4C837D76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7049A-A9E3-9091-81CC-36B5DCB4149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Two modelling traditions: Mechanistic models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16040F-F432-777F-E331-7A52A827DBB0}"/>
                  </a:ext>
                </a:extLst>
              </p:cNvPr>
              <p:cNvSpPr txBox="1"/>
              <p:nvPr/>
            </p:nvSpPr>
            <p:spPr>
              <a:xfrm>
                <a:off x="-420975" y="1845473"/>
                <a:ext cx="5351315" cy="784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16040F-F432-777F-E331-7A52A827D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0975" y="1845473"/>
                <a:ext cx="5351315" cy="784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33">
                <a:extLst>
                  <a:ext uri="{FF2B5EF4-FFF2-40B4-BE49-F238E27FC236}">
                    <a16:creationId xmlns:a16="http://schemas.microsoft.com/office/drawing/2014/main" id="{BF3D94F8-E4D1-4B97-11C1-BC7E1C03551C}"/>
                  </a:ext>
                </a:extLst>
              </p:cNvPr>
              <p:cNvSpPr txBox="1"/>
              <p:nvPr/>
            </p:nvSpPr>
            <p:spPr>
              <a:xfrm>
                <a:off x="380131" y="2835132"/>
                <a:ext cx="1874552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0" name="ZoneTexte 33">
                <a:extLst>
                  <a:ext uri="{FF2B5EF4-FFF2-40B4-BE49-F238E27FC236}">
                    <a16:creationId xmlns:a16="http://schemas.microsoft.com/office/drawing/2014/main" id="{BF3D94F8-E4D1-4B97-11C1-BC7E1C035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1" y="2835132"/>
                <a:ext cx="1874552" cy="636264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7">
            <a:extLst>
              <a:ext uri="{FF2B5EF4-FFF2-40B4-BE49-F238E27FC236}">
                <a16:creationId xmlns:a16="http://schemas.microsoft.com/office/drawing/2014/main" id="{F22E0BFD-E332-7FC3-635C-CBFD5D80BA73}"/>
              </a:ext>
            </a:extLst>
          </p:cNvPr>
          <p:cNvSpPr txBox="1"/>
          <p:nvPr/>
        </p:nvSpPr>
        <p:spPr>
          <a:xfrm>
            <a:off x="-1" y="1281169"/>
            <a:ext cx="275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rgbClr val="000000"/>
                </a:solidFill>
                <a:latin typeface="Arial Nova" panose="020B0504020202020204" pitchFamily="34" charset="0"/>
              </a:rPr>
              <a:t>General form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BDE94-F8D7-3F4B-6117-7A56E2B64552}"/>
              </a:ext>
            </a:extLst>
          </p:cNvPr>
          <p:cNvSpPr txBox="1"/>
          <p:nvPr/>
        </p:nvSpPr>
        <p:spPr>
          <a:xfrm>
            <a:off x="104723" y="3985579"/>
            <a:ext cx="2149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Density vector 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1F1E54-AFBC-14FB-4402-A4CAD5C5DC8C}"/>
                  </a:ext>
                </a:extLst>
              </p:cNvPr>
              <p:cNvSpPr txBox="1"/>
              <p:nvPr/>
            </p:nvSpPr>
            <p:spPr>
              <a:xfrm>
                <a:off x="313052" y="4611134"/>
                <a:ext cx="1626407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1F1E54-AFBC-14FB-4402-A4CAD5C5D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2" y="4611134"/>
                <a:ext cx="1626407" cy="1113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CCAA2BC-1C20-F840-FB9C-F5E222D5BC2E}"/>
              </a:ext>
            </a:extLst>
          </p:cNvPr>
          <p:cNvSpPr txBox="1"/>
          <p:nvPr/>
        </p:nvSpPr>
        <p:spPr>
          <a:xfrm>
            <a:off x="2012715" y="3890553"/>
            <a:ext cx="1987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Environment vector 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7F10DE-77AC-66F9-D04D-709B8BBC783F}"/>
                  </a:ext>
                </a:extLst>
              </p:cNvPr>
              <p:cNvSpPr txBox="1"/>
              <p:nvPr/>
            </p:nvSpPr>
            <p:spPr>
              <a:xfrm>
                <a:off x="2012715" y="4611134"/>
                <a:ext cx="1556836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7F10DE-77AC-66F9-D04D-709B8BBC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715" y="4611134"/>
                <a:ext cx="1556836" cy="1113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4B7AC6BB-0798-8211-8653-860E3D6C5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055" y="655375"/>
            <a:ext cx="3177911" cy="3164577"/>
          </a:xfrm>
          <a:prstGeom prst="rect">
            <a:avLst/>
          </a:prstGeom>
        </p:spPr>
      </p:pic>
      <p:sp>
        <p:nvSpPr>
          <p:cNvPr id="25" name="TextBox 3">
            <a:extLst>
              <a:ext uri="{FF2B5EF4-FFF2-40B4-BE49-F238E27FC236}">
                <a16:creationId xmlns:a16="http://schemas.microsoft.com/office/drawing/2014/main" id="{6DD0EB28-D2C4-AE28-137F-EBE5B5A280DD}"/>
              </a:ext>
            </a:extLst>
          </p:cNvPr>
          <p:cNvSpPr txBox="1"/>
          <p:nvPr/>
        </p:nvSpPr>
        <p:spPr>
          <a:xfrm>
            <a:off x="4866837" y="3819952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Letten et al. </a:t>
            </a:r>
            <a:r>
              <a:rPr lang="en-GB" sz="1200" b="1" i="1" dirty="0">
                <a:latin typeface="Arial Nova" panose="020B0504020202020204" pitchFamily="34" charset="0"/>
              </a:rPr>
              <a:t>Eco. Monographs </a:t>
            </a:r>
            <a:r>
              <a:rPr lang="en-GB" sz="1200" b="1" dirty="0">
                <a:latin typeface="Arial Nova" panose="020B0504020202020204" pitchFamily="34" charset="0"/>
              </a:rPr>
              <a:t>(2017)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F67A97-718C-B95D-F406-A952B3C9F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3681" y="4296005"/>
            <a:ext cx="3813398" cy="1549193"/>
          </a:xfrm>
          <a:prstGeom prst="rect">
            <a:avLst/>
          </a:prstGeom>
        </p:spPr>
      </p:pic>
      <p:sp>
        <p:nvSpPr>
          <p:cNvPr id="28" name="TextBox 3">
            <a:extLst>
              <a:ext uri="{FF2B5EF4-FFF2-40B4-BE49-F238E27FC236}">
                <a16:creationId xmlns:a16="http://schemas.microsoft.com/office/drawing/2014/main" id="{B70DD1EC-7A1B-568E-1463-06C855B00FD6}"/>
              </a:ext>
            </a:extLst>
          </p:cNvPr>
          <p:cNvSpPr txBox="1"/>
          <p:nvPr/>
        </p:nvSpPr>
        <p:spPr>
          <a:xfrm>
            <a:off x="6157712" y="5829768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Niehaus et al. </a:t>
            </a:r>
            <a:r>
              <a:rPr lang="en-GB" sz="1200" b="1" i="1" dirty="0">
                <a:latin typeface="Arial Nova" panose="020B0504020202020204" pitchFamily="34" charset="0"/>
              </a:rPr>
              <a:t>Nat. Comms. </a:t>
            </a:r>
            <a:r>
              <a:rPr lang="en-GB" sz="1200" b="1" dirty="0">
                <a:latin typeface="Arial Nova" panose="020B0504020202020204" pitchFamily="34" charset="0"/>
              </a:rPr>
              <a:t>(2019)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537EE17-6AEA-84B7-48A8-A9768DD6B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8989" y="729941"/>
            <a:ext cx="3097349" cy="3118312"/>
          </a:xfrm>
          <a:prstGeom prst="rect">
            <a:avLst/>
          </a:prstGeom>
        </p:spPr>
      </p:pic>
      <p:sp>
        <p:nvSpPr>
          <p:cNvPr id="31" name="TextBox 3">
            <a:extLst>
              <a:ext uri="{FF2B5EF4-FFF2-40B4-BE49-F238E27FC236}">
                <a16:creationId xmlns:a16="http://schemas.microsoft.com/office/drawing/2014/main" id="{AF3072E8-FF6E-DA7E-B312-394986BEE832}"/>
              </a:ext>
            </a:extLst>
          </p:cNvPr>
          <p:cNvSpPr txBox="1"/>
          <p:nvPr/>
        </p:nvSpPr>
        <p:spPr>
          <a:xfrm>
            <a:off x="8803146" y="3819951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Gibbs et al. </a:t>
            </a:r>
            <a:r>
              <a:rPr lang="en-GB" sz="1200" b="1" i="1" dirty="0" err="1">
                <a:latin typeface="Arial Nova" panose="020B0504020202020204" pitchFamily="34" charset="0"/>
              </a:rPr>
              <a:t>PLoS</a:t>
            </a:r>
            <a:r>
              <a:rPr lang="en-GB" sz="1200" b="1" i="1" dirty="0">
                <a:latin typeface="Arial Nova" panose="020B0504020202020204" pitchFamily="34" charset="0"/>
              </a:rPr>
              <a:t> Comp. Bio. </a:t>
            </a:r>
            <a:r>
              <a:rPr lang="en-GB" sz="1200" b="1" dirty="0">
                <a:latin typeface="Arial Nova" panose="020B0504020202020204" pitchFamily="34" charset="0"/>
              </a:rPr>
              <a:t>(2022)</a:t>
            </a:r>
          </a:p>
        </p:txBody>
      </p:sp>
    </p:spTree>
    <p:extLst>
      <p:ext uri="{BB962C8B-B14F-4D97-AF65-F5344CB8AC3E}">
        <p14:creationId xmlns:p14="http://schemas.microsoft.com/office/powerpoint/2010/main" val="377734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06949DE-2137-DFD1-72BE-81B46D26640E}"/>
              </a:ext>
            </a:extLst>
          </p:cNvPr>
          <p:cNvSpPr txBox="1"/>
          <p:nvPr/>
        </p:nvSpPr>
        <p:spPr>
          <a:xfrm>
            <a:off x="859458" y="111107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Mechanistic models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B62D0-AB40-CD58-5708-A436AC7EFCBE}"/>
              </a:ext>
            </a:extLst>
          </p:cNvPr>
          <p:cNvSpPr txBox="1"/>
          <p:nvPr/>
        </p:nvSpPr>
        <p:spPr>
          <a:xfrm>
            <a:off x="7003090" y="111107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Phenomenological models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F0713D-9F2D-01DF-D87E-5B5A98B2F7B8}"/>
              </a:ext>
            </a:extLst>
          </p:cNvPr>
          <p:cNvCxnSpPr>
            <a:cxnSpLocks/>
          </p:cNvCxnSpPr>
          <p:nvPr/>
        </p:nvCxnSpPr>
        <p:spPr>
          <a:xfrm>
            <a:off x="6249391" y="311162"/>
            <a:ext cx="0" cy="577587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A35898-1B4B-3B22-D689-484726A15895}"/>
              </a:ext>
            </a:extLst>
          </p:cNvPr>
          <p:cNvSpPr txBox="1"/>
          <p:nvPr/>
        </p:nvSpPr>
        <p:spPr>
          <a:xfrm>
            <a:off x="6527185" y="4380415"/>
            <a:ext cx="5363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+ Simple to parameterise from pairwise measurements</a:t>
            </a:r>
          </a:p>
          <a:p>
            <a:r>
              <a:rPr lang="en-GB" dirty="0">
                <a:solidFill>
                  <a:srgbClr val="FF0000"/>
                </a:solidFill>
              </a:rPr>
              <a:t>- Multiple phenomena aren’t captured by pairwise data (HOIs, context-dependencies, time lags…)</a:t>
            </a:r>
          </a:p>
          <a:p>
            <a:r>
              <a:rPr lang="en-GB" dirty="0">
                <a:solidFill>
                  <a:srgbClr val="FF0000"/>
                </a:solidFill>
              </a:rPr>
              <a:t>- Generate paradoxes that appear to contradict observations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124D3-36DD-4540-104E-C3A77A262BF7}"/>
              </a:ext>
            </a:extLst>
          </p:cNvPr>
          <p:cNvSpPr txBox="1"/>
          <p:nvPr/>
        </p:nvSpPr>
        <p:spPr>
          <a:xfrm>
            <a:off x="166925" y="4380415"/>
            <a:ext cx="6274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+ Realistic constraints on mechanistic processes</a:t>
            </a:r>
          </a:p>
          <a:p>
            <a:r>
              <a:rPr lang="en-GB" dirty="0">
                <a:solidFill>
                  <a:srgbClr val="FF0000"/>
                </a:solidFill>
              </a:rPr>
              <a:t>- Difficult to generalise</a:t>
            </a:r>
          </a:p>
          <a:p>
            <a:r>
              <a:rPr lang="en-GB" dirty="0">
                <a:solidFill>
                  <a:srgbClr val="FF0000"/>
                </a:solidFill>
              </a:rPr>
              <a:t>- Require expensive/slow measurements of resource dynamics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F149C-4CC2-D2B9-84DC-F529A147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D7D6D-EF1C-4134-99E0-1E4EBAD2D0C2}" type="datetime1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9B9E8-E4CC-E96C-0F19-99DCD31C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79F4E-E16D-1ADD-804E-2AE261D8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B8FC15-2396-B923-AB07-8D56F7AD6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43" y="602819"/>
            <a:ext cx="2756427" cy="2317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9B93A-47CB-23DD-97B7-6BEC43BC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22" y="602820"/>
            <a:ext cx="5398944" cy="231772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508DF1-7359-19DB-A445-E9EFBEFDCE1B}"/>
              </a:ext>
            </a:extLst>
          </p:cNvPr>
          <p:cNvCxnSpPr/>
          <p:nvPr/>
        </p:nvCxnSpPr>
        <p:spPr>
          <a:xfrm>
            <a:off x="5270191" y="3084452"/>
            <a:ext cx="180052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7D5E792-8764-FA21-54D9-2E21B5ADADC2}"/>
              </a:ext>
            </a:extLst>
          </p:cNvPr>
          <p:cNvSpPr txBox="1"/>
          <p:nvPr/>
        </p:nvSpPr>
        <p:spPr>
          <a:xfrm>
            <a:off x="5809821" y="3193518"/>
            <a:ext cx="700111" cy="830997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32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phic 44">
            <a:extLst>
              <a:ext uri="{FF2B5EF4-FFF2-40B4-BE49-F238E27FC236}">
                <a16:creationId xmlns:a16="http://schemas.microsoft.com/office/drawing/2014/main" id="{183C58B0-F601-3A59-9234-3EBBE03CC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1602" y="3329131"/>
            <a:ext cx="7553300" cy="290115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E65089-A52D-7198-0841-D01B92940DB9}"/>
              </a:ext>
            </a:extLst>
          </p:cNvPr>
          <p:cNvCxnSpPr>
            <a:cxnSpLocks/>
          </p:cNvCxnSpPr>
          <p:nvPr/>
        </p:nvCxnSpPr>
        <p:spPr>
          <a:xfrm>
            <a:off x="3191469" y="2170655"/>
            <a:ext cx="3314665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42D00-FF82-F217-FD63-1FFE6D0E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BFDA-87EB-4720-83A0-DD4C8EB8CED1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E3BF7-9C36-B641-09E7-E7BB7288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B3AEB-1D6D-8BA0-AB42-22280D1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AA7B8-6E63-41B2-62E7-C4034B7C1FA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Talk outline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30682F-7108-8FE0-4420-B389C7C8ED73}"/>
              </a:ext>
            </a:extLst>
          </p:cNvPr>
          <p:cNvSpPr txBox="1"/>
          <p:nvPr/>
        </p:nvSpPr>
        <p:spPr>
          <a:xfrm>
            <a:off x="192865" y="614221"/>
            <a:ext cx="1075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7AE86-09E2-2A24-DA01-F6F7970D236C}"/>
              </a:ext>
            </a:extLst>
          </p:cNvPr>
          <p:cNvSpPr txBox="1"/>
          <p:nvPr/>
        </p:nvSpPr>
        <p:spPr>
          <a:xfrm>
            <a:off x="21474" y="3144124"/>
            <a:ext cx="1418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Part 2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9163506-3DB2-2C1B-93D2-7C0B829A5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961" y="1155881"/>
            <a:ext cx="1511682" cy="184884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30FF60B-28FB-F836-E68E-08CA02F72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8689" y="3544234"/>
            <a:ext cx="1790700" cy="26860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A88222E-D7E8-F39C-C3A8-A604E8C094E7}"/>
              </a:ext>
            </a:extLst>
          </p:cNvPr>
          <p:cNvSpPr txBox="1"/>
          <p:nvPr/>
        </p:nvSpPr>
        <p:spPr>
          <a:xfrm rot="18566156">
            <a:off x="5069821" y="5310922"/>
            <a:ext cx="1075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HOIs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B41DF781-06C4-4630-2B65-BE93A91E6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23" y="3498134"/>
            <a:ext cx="2162175" cy="27051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E348B4-2077-D423-FE8E-84B534F09687}"/>
              </a:ext>
            </a:extLst>
          </p:cNvPr>
          <p:cNvSpPr txBox="1"/>
          <p:nvPr/>
        </p:nvSpPr>
        <p:spPr>
          <a:xfrm rot="16200000">
            <a:off x="2607854" y="4608574"/>
            <a:ext cx="1852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Density dependence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C62AA2-F1B1-DC83-7E79-7C3B3483BB5A}"/>
              </a:ext>
            </a:extLst>
          </p:cNvPr>
          <p:cNvSpPr txBox="1"/>
          <p:nvPr/>
        </p:nvSpPr>
        <p:spPr>
          <a:xfrm rot="18521069">
            <a:off x="9353766" y="5218367"/>
            <a:ext cx="1774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Cooperation-stability paradox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B61B6D-4AEE-ECEF-7D68-9547E1203B3C}"/>
              </a:ext>
            </a:extLst>
          </p:cNvPr>
          <p:cNvSpPr txBox="1"/>
          <p:nvPr/>
        </p:nvSpPr>
        <p:spPr>
          <a:xfrm rot="18521069">
            <a:off x="7995009" y="4981547"/>
            <a:ext cx="2313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Diversity-stability paradox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076834-9C0A-F36D-E317-2737AEA07859}"/>
              </a:ext>
            </a:extLst>
          </p:cNvPr>
          <p:cNvSpPr txBox="1"/>
          <p:nvPr/>
        </p:nvSpPr>
        <p:spPr>
          <a:xfrm>
            <a:off x="181119" y="5117155"/>
            <a:ext cx="2313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dependencies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C2E4C2-54E4-57BC-25CD-C1B84B52E39D}"/>
              </a:ext>
            </a:extLst>
          </p:cNvPr>
          <p:cNvSpPr txBox="1"/>
          <p:nvPr/>
        </p:nvSpPr>
        <p:spPr>
          <a:xfrm rot="18521069">
            <a:off x="6112757" y="4751120"/>
            <a:ext cx="2783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coexistence theory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14B9ED5-D1B4-D5CF-43C1-76D8957EE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27" y="938785"/>
            <a:ext cx="2643897" cy="222310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36C5EDD-652D-7469-0662-5938857B72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618" y="921436"/>
            <a:ext cx="5398944" cy="2317729"/>
          </a:xfrm>
          <a:prstGeom prst="rect">
            <a:avLst/>
          </a:prstGeom>
        </p:spPr>
      </p:pic>
      <p:sp>
        <p:nvSpPr>
          <p:cNvPr id="54" name="Arrow: Right 53">
            <a:extLst>
              <a:ext uri="{FF2B5EF4-FFF2-40B4-BE49-F238E27FC236}">
                <a16:creationId xmlns:a16="http://schemas.microsoft.com/office/drawing/2014/main" id="{D7C1EE44-9BA2-1F38-4C9D-6246A8A2C4CE}"/>
              </a:ext>
            </a:extLst>
          </p:cNvPr>
          <p:cNvSpPr/>
          <p:nvPr/>
        </p:nvSpPr>
        <p:spPr>
          <a:xfrm rot="9226210">
            <a:off x="1941863" y="3557277"/>
            <a:ext cx="923278" cy="4536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066C9C51-5BD8-E0A1-6AA5-E549173E5292}"/>
              </a:ext>
            </a:extLst>
          </p:cNvPr>
          <p:cNvSpPr/>
          <p:nvPr/>
        </p:nvSpPr>
        <p:spPr>
          <a:xfrm rot="9226210">
            <a:off x="8623008" y="3403924"/>
            <a:ext cx="923278" cy="4536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70657F42-0276-65FA-A482-5BC020E63876}"/>
              </a:ext>
            </a:extLst>
          </p:cNvPr>
          <p:cNvSpPr/>
          <p:nvPr/>
        </p:nvSpPr>
        <p:spPr>
          <a:xfrm rot="9226210">
            <a:off x="11052689" y="4391869"/>
            <a:ext cx="923278" cy="4536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868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37" grpId="0"/>
      <p:bldP spid="39" grpId="0"/>
      <p:bldP spid="43" grpId="0"/>
      <p:bldP spid="54" grpId="0" animBg="1"/>
      <p:bldP spid="56" grpId="0" animBg="1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DD1552-0010-A6DB-C716-704D3286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311E-4542-4C3F-998D-7B4DB83438ED}" type="datetime1">
              <a:rPr lang="en-GB" smtClean="0"/>
              <a:t>28/07/2026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FE9755-BCF6-81BC-F453-1C7DA2AE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Accelerations in microbial ecosystems</a:t>
            </a:r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FC1719-43A9-D7FE-D4D1-E5EA9E0D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7</a:t>
            </a:fld>
            <a:endParaRPr lang="fr-CH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F210C1C8-F6DA-BA6F-AA11-BBE298F85EC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Introducing E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nvironment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-Organism models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D2FFF1-A7A9-2862-7AA2-CA6A20775E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5" t="25804" r="46574" b="44214"/>
          <a:stretch/>
        </p:blipFill>
        <p:spPr>
          <a:xfrm>
            <a:off x="3465518" y="2053425"/>
            <a:ext cx="5260964" cy="27511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019239-D69E-E158-D4A6-65F8DBFC034D}"/>
              </a:ext>
            </a:extLst>
          </p:cNvPr>
          <p:cNvSpPr/>
          <p:nvPr/>
        </p:nvSpPr>
        <p:spPr>
          <a:xfrm>
            <a:off x="4495800" y="3152775"/>
            <a:ext cx="112395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rgbClr val="0298C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82AD5-9FCD-F56D-A05A-FEFCC783AA29}"/>
              </a:ext>
            </a:extLst>
          </p:cNvPr>
          <p:cNvSpPr/>
          <p:nvPr/>
        </p:nvSpPr>
        <p:spPr>
          <a:xfrm>
            <a:off x="6088057" y="3152775"/>
            <a:ext cx="112395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2960983-8A30-80C5-DB06-420F08F598B5}"/>
              </a:ext>
            </a:extLst>
          </p:cNvPr>
          <p:cNvSpPr txBox="1"/>
          <p:nvPr/>
        </p:nvSpPr>
        <p:spPr>
          <a:xfrm>
            <a:off x="3561559" y="1771172"/>
            <a:ext cx="171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Effector species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C91CEAE-2D73-9BA3-5893-A0CE27057AB2}"/>
              </a:ext>
            </a:extLst>
          </p:cNvPr>
          <p:cNvSpPr txBox="1"/>
          <p:nvPr/>
        </p:nvSpPr>
        <p:spPr>
          <a:xfrm>
            <a:off x="6353966" y="1771172"/>
            <a:ext cx="171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Target species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30FEB4D-8693-A82B-23F3-CDD5598ED510}"/>
              </a:ext>
            </a:extLst>
          </p:cNvPr>
          <p:cNvSpPr txBox="1"/>
          <p:nvPr/>
        </p:nvSpPr>
        <p:spPr>
          <a:xfrm>
            <a:off x="5057775" y="4784891"/>
            <a:ext cx="171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Intermediate compound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E16562FB-FEF5-ACBF-878D-5B5BD5611BFB}"/>
              </a:ext>
            </a:extLst>
          </p:cNvPr>
          <p:cNvSpPr txBox="1"/>
          <p:nvPr/>
        </p:nvSpPr>
        <p:spPr>
          <a:xfrm>
            <a:off x="3249220" y="3789666"/>
            <a:ext cx="171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0298C2"/>
                </a:solidFill>
                <a:latin typeface="Calibri" panose="020F0502020204030204"/>
              </a:rPr>
              <a:t>Impact function </a:t>
            </a: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of </a:t>
            </a:r>
            <a:r>
              <a:rPr lang="el-GR" b="1" dirty="0">
                <a:solidFill>
                  <a:srgbClr val="000000"/>
                </a:solidFill>
                <a:latin typeface="Calibri" panose="020F0502020204030204"/>
              </a:rPr>
              <a:t>β</a:t>
            </a: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 on </a:t>
            </a:r>
            <a:r>
              <a:rPr lang="el-GR" b="1" dirty="0">
                <a:solidFill>
                  <a:srgbClr val="000000"/>
                </a:solidFill>
                <a:latin typeface="Calibri" panose="020F0502020204030204"/>
              </a:rPr>
              <a:t>ρ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AA526E1-DCAC-C128-8637-01A34BE1B537}"/>
              </a:ext>
            </a:extLst>
          </p:cNvPr>
          <p:cNvCxnSpPr>
            <a:cxnSpLocks/>
          </p:cNvCxnSpPr>
          <p:nvPr/>
        </p:nvCxnSpPr>
        <p:spPr>
          <a:xfrm flipV="1">
            <a:off x="6308714" y="3175587"/>
            <a:ext cx="895350" cy="828675"/>
          </a:xfrm>
          <a:prstGeom prst="straightConnector1">
            <a:avLst/>
          </a:prstGeom>
          <a:ln w="57150">
            <a:solidFill>
              <a:srgbClr val="B90E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6">
            <a:extLst>
              <a:ext uri="{FF2B5EF4-FFF2-40B4-BE49-F238E27FC236}">
                <a16:creationId xmlns:a16="http://schemas.microsoft.com/office/drawing/2014/main" id="{BED8E386-F9B4-82EB-D475-D21085157002}"/>
              </a:ext>
            </a:extLst>
          </p:cNvPr>
          <p:cNvSpPr txBox="1"/>
          <p:nvPr/>
        </p:nvSpPr>
        <p:spPr>
          <a:xfrm>
            <a:off x="6869107" y="3634930"/>
            <a:ext cx="207803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B90EFF"/>
                </a:solidFill>
                <a:latin typeface="Calibri" panose="020F0502020204030204"/>
              </a:rPr>
              <a:t>Sensitivity function</a:t>
            </a: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, effect of </a:t>
            </a:r>
            <a:r>
              <a:rPr lang="el-GR" b="1" dirty="0">
                <a:solidFill>
                  <a:srgbClr val="000000"/>
                </a:solidFill>
                <a:latin typeface="Calibri" panose="020F0502020204030204"/>
              </a:rPr>
              <a:t>ρ</a:t>
            </a: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 on growth rate of </a:t>
            </a:r>
            <a:r>
              <a:rPr lang="el-GR" b="1" dirty="0">
                <a:solidFill>
                  <a:srgbClr val="000000"/>
                </a:solidFill>
                <a:latin typeface="Calibri" panose="020F0502020204030204"/>
              </a:rPr>
              <a:t>α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8701F2A-EF53-E196-B9FD-209CBD1133FC}"/>
              </a:ext>
            </a:extLst>
          </p:cNvPr>
          <p:cNvCxnSpPr/>
          <p:nvPr/>
        </p:nvCxnSpPr>
        <p:spPr>
          <a:xfrm>
            <a:off x="4572000" y="3165475"/>
            <a:ext cx="895350" cy="828675"/>
          </a:xfrm>
          <a:prstGeom prst="straightConnector1">
            <a:avLst/>
          </a:prstGeom>
          <a:ln w="57150">
            <a:solidFill>
              <a:srgbClr val="0298C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0B1211D5-F9B6-F81B-0226-C46566DD0E8B}"/>
              </a:ext>
            </a:extLst>
          </p:cNvPr>
          <p:cNvGrpSpPr/>
          <p:nvPr/>
        </p:nvGrpSpPr>
        <p:grpSpPr>
          <a:xfrm>
            <a:off x="4561684" y="3160332"/>
            <a:ext cx="1011232" cy="1000505"/>
            <a:chOff x="4572000" y="3434970"/>
            <a:chExt cx="1011232" cy="1000505"/>
          </a:xfrm>
        </p:grpSpPr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25DC3375-F3CC-58B2-EB1D-A0C12CDDAFB6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434970"/>
              <a:ext cx="828675" cy="805863"/>
            </a:xfrm>
            <a:prstGeom prst="line">
              <a:avLst/>
            </a:prstGeom>
            <a:ln w="57150">
              <a:solidFill>
                <a:srgbClr val="0298C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13F70B14-0958-9EEB-A098-91B51A38E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14" y="4108450"/>
              <a:ext cx="341318" cy="327025"/>
            </a:xfrm>
            <a:prstGeom prst="line">
              <a:avLst/>
            </a:prstGeom>
            <a:ln w="57150">
              <a:solidFill>
                <a:srgbClr val="0298C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C8F2EE8-4A4B-FE7E-38AE-3B78830018C9}"/>
              </a:ext>
            </a:extLst>
          </p:cNvPr>
          <p:cNvGrpSpPr/>
          <p:nvPr/>
        </p:nvGrpSpPr>
        <p:grpSpPr>
          <a:xfrm flipV="1">
            <a:off x="6231728" y="3127752"/>
            <a:ext cx="1011232" cy="1000505"/>
            <a:chOff x="4572000" y="3434970"/>
            <a:chExt cx="1011232" cy="1000505"/>
          </a:xfrm>
        </p:grpSpPr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60B5818E-24E6-EC4A-7168-8AD4AA3FE2FC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434970"/>
              <a:ext cx="828675" cy="805863"/>
            </a:xfrm>
            <a:prstGeom prst="line">
              <a:avLst/>
            </a:prstGeom>
            <a:ln w="57150">
              <a:solidFill>
                <a:srgbClr val="B90EF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F1375E7F-260E-E67B-78CF-BDFA89AA9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14" y="4108450"/>
              <a:ext cx="341318" cy="327025"/>
            </a:xfrm>
            <a:prstGeom prst="line">
              <a:avLst/>
            </a:prstGeom>
            <a:ln w="57150">
              <a:solidFill>
                <a:srgbClr val="B90EF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18BF909-5898-470B-0597-E47B6A126048}"/>
                  </a:ext>
                </a:extLst>
              </p:cNvPr>
              <p:cNvSpPr txBox="1"/>
              <p:nvPr/>
            </p:nvSpPr>
            <p:spPr>
              <a:xfrm>
                <a:off x="6914559" y="4451995"/>
                <a:ext cx="1830373" cy="804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8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fr-CH" sz="48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48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18BF909-5898-470B-0597-E47B6A126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59" y="4451995"/>
                <a:ext cx="1830373" cy="804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78E6878D-573A-8B77-3F83-CBF0EECA8666}"/>
                  </a:ext>
                </a:extLst>
              </p:cNvPr>
              <p:cNvSpPr txBox="1"/>
              <p:nvPr/>
            </p:nvSpPr>
            <p:spPr>
              <a:xfrm>
                <a:off x="3105005" y="4508047"/>
                <a:ext cx="1828962" cy="804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CH" sz="4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4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i="1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4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4800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78E6878D-573A-8B77-3F83-CBF0EECA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005" y="4508047"/>
                <a:ext cx="1828962" cy="804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FAD9292-1A1D-0AA1-289A-DA4CE766142B}"/>
              </a:ext>
            </a:extLst>
          </p:cNvPr>
          <p:cNvSpPr txBox="1"/>
          <p:nvPr/>
        </p:nvSpPr>
        <p:spPr>
          <a:xfrm>
            <a:off x="9481490" y="1319818"/>
            <a:ext cx="2149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Density vector 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691635-42A2-B4B8-C4AE-853C317A4AFE}"/>
                  </a:ext>
                </a:extLst>
              </p:cNvPr>
              <p:cNvSpPr txBox="1"/>
              <p:nvPr/>
            </p:nvSpPr>
            <p:spPr>
              <a:xfrm>
                <a:off x="9689818" y="1745318"/>
                <a:ext cx="1626407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691635-42A2-B4B8-C4AE-853C317A4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818" y="1745318"/>
                <a:ext cx="1626407" cy="1113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ED3926F-910E-9DAB-D835-7E89C7B9C750}"/>
              </a:ext>
            </a:extLst>
          </p:cNvPr>
          <p:cNvSpPr txBox="1"/>
          <p:nvPr/>
        </p:nvSpPr>
        <p:spPr>
          <a:xfrm>
            <a:off x="9481490" y="3333117"/>
            <a:ext cx="2149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Environment vector 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0B3429-B22A-47E5-C2FB-C6880C0150A7}"/>
                  </a:ext>
                </a:extLst>
              </p:cNvPr>
              <p:cNvSpPr txBox="1"/>
              <p:nvPr/>
            </p:nvSpPr>
            <p:spPr>
              <a:xfrm>
                <a:off x="9621850" y="4252639"/>
                <a:ext cx="1762342" cy="1272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0B3429-B22A-47E5-C2FB-C6880C015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850" y="4252639"/>
                <a:ext cx="1762342" cy="12728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62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AF9A4-F279-7D06-F440-3336F6AB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3E9-22C3-422B-80A0-7C11178456D4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FC17C-D70E-0D73-4D73-FFF49A5F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69C2-CD96-CE25-1F81-DE4694D2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BD1BA-A58D-029B-8FDF-67B2D6468772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Deriving a general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/EO mapping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258CA9-BFFC-BFDB-1732-90F14D320E91}"/>
                  </a:ext>
                </a:extLst>
              </p:cNvPr>
              <p:cNvSpPr txBox="1"/>
              <p:nvPr/>
            </p:nvSpPr>
            <p:spPr>
              <a:xfrm>
                <a:off x="1097280" y="4404890"/>
                <a:ext cx="5351315" cy="784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258CA9-BFFC-BFDB-1732-90F14D32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404890"/>
                <a:ext cx="5351315" cy="784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33">
                <a:extLst>
                  <a:ext uri="{FF2B5EF4-FFF2-40B4-BE49-F238E27FC236}">
                    <a16:creationId xmlns:a16="http://schemas.microsoft.com/office/drawing/2014/main" id="{6A4FC5EE-BA9F-9CE8-B1CA-DC90B822243C}"/>
                  </a:ext>
                </a:extLst>
              </p:cNvPr>
              <p:cNvSpPr txBox="1"/>
              <p:nvPr/>
            </p:nvSpPr>
            <p:spPr>
              <a:xfrm>
                <a:off x="1898386" y="5394549"/>
                <a:ext cx="1874552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7" name="ZoneTexte 33">
                <a:extLst>
                  <a:ext uri="{FF2B5EF4-FFF2-40B4-BE49-F238E27FC236}">
                    <a16:creationId xmlns:a16="http://schemas.microsoft.com/office/drawing/2014/main" id="{6A4FC5EE-BA9F-9CE8-B1CA-DC90B8222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386" y="5394549"/>
                <a:ext cx="1874552" cy="636264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2DD25C-8D27-8AAF-6290-E4326541A468}"/>
              </a:ext>
            </a:extLst>
          </p:cNvPr>
          <p:cNvCxnSpPr>
            <a:cxnSpLocks/>
          </p:cNvCxnSpPr>
          <p:nvPr/>
        </p:nvCxnSpPr>
        <p:spPr>
          <a:xfrm>
            <a:off x="6249391" y="942975"/>
            <a:ext cx="0" cy="514406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9C1DAE-0BFA-D3E6-FBF4-38AB22FCE0EC}"/>
              </a:ext>
            </a:extLst>
          </p:cNvPr>
          <p:cNvSpPr txBox="1"/>
          <p:nvPr/>
        </p:nvSpPr>
        <p:spPr>
          <a:xfrm>
            <a:off x="859458" y="787382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Environment-Organism models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AF446-04FD-2D6A-EBD0-12431D01AA5A}"/>
              </a:ext>
            </a:extLst>
          </p:cNvPr>
          <p:cNvSpPr txBox="1"/>
          <p:nvPr/>
        </p:nvSpPr>
        <p:spPr>
          <a:xfrm>
            <a:off x="6783184" y="787382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Phenomenological model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D53563-39A8-B9DB-7DF7-C67D0C051111}"/>
              </a:ext>
            </a:extLst>
          </p:cNvPr>
          <p:cNvSpPr/>
          <p:nvPr/>
        </p:nvSpPr>
        <p:spPr>
          <a:xfrm>
            <a:off x="8409698" y="1607135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2087A55-25B9-AE8B-5F60-7AF21E2BD5BA}"/>
              </a:ext>
            </a:extLst>
          </p:cNvPr>
          <p:cNvCxnSpPr>
            <a:stCxn id="13" idx="6"/>
            <a:endCxn id="13" idx="2"/>
          </p:cNvCxnSpPr>
          <p:nvPr/>
        </p:nvCxnSpPr>
        <p:spPr>
          <a:xfrm flipH="1">
            <a:off x="8409698" y="2512468"/>
            <a:ext cx="1810666" cy="12700"/>
          </a:xfrm>
          <a:prstGeom prst="curvedConnector5">
            <a:avLst>
              <a:gd name="adj1" fmla="val -12625"/>
              <a:gd name="adj2" fmla="val 8928606"/>
              <a:gd name="adj3" fmla="val 112625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C06D91-9524-F1F7-2A31-3FC5F3BCF816}"/>
                  </a:ext>
                </a:extLst>
              </p:cNvPr>
              <p:cNvSpPr txBox="1"/>
              <p:nvPr/>
            </p:nvSpPr>
            <p:spPr>
              <a:xfrm>
                <a:off x="9731829" y="3440200"/>
                <a:ext cx="1361491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C06D91-9524-F1F7-2A31-3FC5F3BCF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29" y="3440200"/>
                <a:ext cx="1361491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BA879E0-EB2B-6263-265E-0EF382658E9E}"/>
              </a:ext>
            </a:extLst>
          </p:cNvPr>
          <p:cNvSpPr txBox="1"/>
          <p:nvPr/>
        </p:nvSpPr>
        <p:spPr>
          <a:xfrm>
            <a:off x="8217849" y="2064819"/>
            <a:ext cx="219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0AB566-84FE-C00E-2B3E-50EABB0F1F4D}"/>
                  </a:ext>
                </a:extLst>
              </p:cNvPr>
              <p:cNvSpPr txBox="1"/>
              <p:nvPr/>
            </p:nvSpPr>
            <p:spPr>
              <a:xfrm>
                <a:off x="8769190" y="2518818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0AB566-84FE-C00E-2B3E-50EABB0F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190" y="2518818"/>
                <a:ext cx="109168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D051A26A-0E26-C838-27CE-3C2B49D42762}"/>
              </a:ext>
            </a:extLst>
          </p:cNvPr>
          <p:cNvSpPr/>
          <p:nvPr/>
        </p:nvSpPr>
        <p:spPr>
          <a:xfrm>
            <a:off x="4143190" y="1855069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6EFBD2-10C2-F12C-9244-720F04138DA6}"/>
              </a:ext>
            </a:extLst>
          </p:cNvPr>
          <p:cNvSpPr txBox="1"/>
          <p:nvPr/>
        </p:nvSpPr>
        <p:spPr>
          <a:xfrm>
            <a:off x="3951341" y="2312753"/>
            <a:ext cx="219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DFEA27-3A38-ACEF-ECAC-50E960C89F84}"/>
                  </a:ext>
                </a:extLst>
              </p:cNvPr>
              <p:cNvSpPr txBox="1"/>
              <p:nvPr/>
            </p:nvSpPr>
            <p:spPr>
              <a:xfrm>
                <a:off x="4502682" y="2766752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DFEA27-3A38-ACEF-ECAC-50E960C89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682" y="2766752"/>
                <a:ext cx="109168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31835EF2-4BD3-69B7-0251-E12417658F7A}"/>
              </a:ext>
            </a:extLst>
          </p:cNvPr>
          <p:cNvSpPr/>
          <p:nvPr/>
        </p:nvSpPr>
        <p:spPr>
          <a:xfrm>
            <a:off x="1503929" y="1855069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3E4C0D-1CCB-B4EC-11B3-2423AF4C2380}"/>
              </a:ext>
            </a:extLst>
          </p:cNvPr>
          <p:cNvSpPr txBox="1"/>
          <p:nvPr/>
        </p:nvSpPr>
        <p:spPr>
          <a:xfrm>
            <a:off x="1512897" y="2490036"/>
            <a:ext cx="1810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Environmental factors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2557E0-2BE7-8884-2380-5D30B013E8D3}"/>
                  </a:ext>
                </a:extLst>
              </p:cNvPr>
              <p:cNvSpPr txBox="1"/>
              <p:nvPr/>
            </p:nvSpPr>
            <p:spPr>
              <a:xfrm>
                <a:off x="1863421" y="3046673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2557E0-2BE7-8884-2380-5D30B0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421" y="3046673"/>
                <a:ext cx="109168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4E9CF901-EF93-D698-1157-F7DE982ED185}"/>
              </a:ext>
            </a:extLst>
          </p:cNvPr>
          <p:cNvCxnSpPr>
            <a:stCxn id="24" idx="7"/>
            <a:endCxn id="21" idx="1"/>
          </p:cNvCxnSpPr>
          <p:nvPr/>
        </p:nvCxnSpPr>
        <p:spPr>
          <a:xfrm rot="5400000" flipH="1" flipV="1">
            <a:off x="3728892" y="1440772"/>
            <a:ext cx="12700" cy="1358927"/>
          </a:xfrm>
          <a:prstGeom prst="curvedConnector3">
            <a:avLst>
              <a:gd name="adj1" fmla="val 3887921"/>
            </a:avLst>
          </a:prstGeom>
          <a:ln w="57150">
            <a:solidFill>
              <a:srgbClr val="B90E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C94578FE-E44C-8B3E-BE89-93C69D745418}"/>
              </a:ext>
            </a:extLst>
          </p:cNvPr>
          <p:cNvCxnSpPr>
            <a:cxnSpLocks/>
            <a:stCxn id="21" idx="3"/>
            <a:endCxn id="24" idx="5"/>
          </p:cNvCxnSpPr>
          <p:nvPr/>
        </p:nvCxnSpPr>
        <p:spPr>
          <a:xfrm rot="5400000">
            <a:off x="3728893" y="2721106"/>
            <a:ext cx="12700" cy="1358927"/>
          </a:xfrm>
          <a:prstGeom prst="curvedConnector3">
            <a:avLst>
              <a:gd name="adj1" fmla="val 3887921"/>
            </a:avLst>
          </a:prstGeom>
          <a:ln w="57150">
            <a:solidFill>
              <a:srgbClr val="0298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95F7B2-3210-F100-AACD-7019A8AE61F7}"/>
              </a:ext>
            </a:extLst>
          </p:cNvPr>
          <p:cNvCxnSpPr>
            <a:endCxn id="24" idx="2"/>
          </p:cNvCxnSpPr>
          <p:nvPr/>
        </p:nvCxnSpPr>
        <p:spPr>
          <a:xfrm flipV="1">
            <a:off x="403860" y="2760402"/>
            <a:ext cx="1100069" cy="635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237881-BFB8-3A60-E89B-741DB26EE9D2}"/>
                  </a:ext>
                </a:extLst>
              </p:cNvPr>
              <p:cNvSpPr txBox="1"/>
              <p:nvPr/>
            </p:nvSpPr>
            <p:spPr>
              <a:xfrm>
                <a:off x="3078747" y="1724382"/>
                <a:ext cx="1361491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237881-BFB8-3A60-E89B-741DB26EE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747" y="1724382"/>
                <a:ext cx="1361491" cy="6182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3FDD20-CC7D-9AA6-5969-D5DD8646118F}"/>
                  </a:ext>
                </a:extLst>
              </p:cNvPr>
              <p:cNvSpPr txBox="1"/>
              <p:nvPr/>
            </p:nvSpPr>
            <p:spPr>
              <a:xfrm>
                <a:off x="3043663" y="3150128"/>
                <a:ext cx="1361491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  <m:sub>
                              <m:r>
                                <a:rPr lang="en-GB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3FDD20-CC7D-9AA6-5969-D5DD86461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63" y="3150128"/>
                <a:ext cx="1361491" cy="628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F83649E-6FAB-86AE-7296-2D02CF96ADDB}"/>
                  </a:ext>
                </a:extLst>
              </p:cNvPr>
              <p:cNvSpPr txBox="1"/>
              <p:nvPr/>
            </p:nvSpPr>
            <p:spPr>
              <a:xfrm>
                <a:off x="249390" y="2028343"/>
                <a:ext cx="1361491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  <m:sub>
                              <m:r>
                                <a:rPr lang="en-GB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F83649E-6FAB-86AE-7296-2D02CF96A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0" y="2028343"/>
                <a:ext cx="1361491" cy="6285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EFFADECC-B9D7-6C86-5AD8-343A5D7BFCBC}"/>
              </a:ext>
            </a:extLst>
          </p:cNvPr>
          <p:cNvSpPr txBox="1"/>
          <p:nvPr/>
        </p:nvSpPr>
        <p:spPr>
          <a:xfrm>
            <a:off x="2835662" y="4094707"/>
            <a:ext cx="2046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0298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functions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298C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39BE7296-5A6B-DCA4-4094-19E765C0F8AA}"/>
              </a:ext>
            </a:extLst>
          </p:cNvPr>
          <p:cNvSpPr txBox="1"/>
          <p:nvPr/>
        </p:nvSpPr>
        <p:spPr>
          <a:xfrm>
            <a:off x="2476600" y="5947166"/>
            <a:ext cx="2185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B90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functions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B90E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216F3-98E2-02FF-AF29-35E4AC4960B5}"/>
              </a:ext>
            </a:extLst>
          </p:cNvPr>
          <p:cNvSpPr txBox="1"/>
          <p:nvPr/>
        </p:nvSpPr>
        <p:spPr>
          <a:xfrm>
            <a:off x="4015916" y="4977247"/>
            <a:ext cx="1731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Allogenic function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33">
                <a:extLst>
                  <a:ext uri="{FF2B5EF4-FFF2-40B4-BE49-F238E27FC236}">
                    <a16:creationId xmlns:a16="http://schemas.microsoft.com/office/drawing/2014/main" id="{C88D8B5D-413E-A3F5-43B5-065988B1DA5C}"/>
                  </a:ext>
                </a:extLst>
              </p:cNvPr>
              <p:cNvSpPr txBox="1"/>
              <p:nvPr/>
            </p:nvSpPr>
            <p:spPr>
              <a:xfrm>
                <a:off x="7995911" y="4296123"/>
                <a:ext cx="2904000" cy="784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CH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9" name="ZoneTexte 33">
                <a:extLst>
                  <a:ext uri="{FF2B5EF4-FFF2-40B4-BE49-F238E27FC236}">
                    <a16:creationId xmlns:a16="http://schemas.microsoft.com/office/drawing/2014/main" id="{C88D8B5D-413E-A3F5-43B5-065988B1D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911" y="4296123"/>
                <a:ext cx="2904000" cy="7843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9681ED0-8E00-407B-9F35-6A46FA4A4CE8}"/>
              </a:ext>
            </a:extLst>
          </p:cNvPr>
          <p:cNvSpPr txBox="1"/>
          <p:nvPr/>
        </p:nvSpPr>
        <p:spPr>
          <a:xfrm>
            <a:off x="6379861" y="5194963"/>
            <a:ext cx="1987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Per-capita growth rate (PCGR)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07CB22-B6C0-68BE-640F-ADD5055116C2}"/>
              </a:ext>
            </a:extLst>
          </p:cNvPr>
          <p:cNvSpPr txBox="1"/>
          <p:nvPr/>
        </p:nvSpPr>
        <p:spPr>
          <a:xfrm>
            <a:off x="8287776" y="5194963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Intrinsic growth rates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75659A-7AA1-CDB9-2637-AA01D920AF2A}"/>
              </a:ext>
            </a:extLst>
          </p:cNvPr>
          <p:cNvSpPr/>
          <p:nvPr/>
        </p:nvSpPr>
        <p:spPr>
          <a:xfrm>
            <a:off x="7882670" y="4150244"/>
            <a:ext cx="998372" cy="93026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C6375A1-033E-E383-B6C0-80B3AA4C6E39}"/>
              </a:ext>
            </a:extLst>
          </p:cNvPr>
          <p:cNvCxnSpPr>
            <a:stCxn id="32" idx="3"/>
            <a:endCxn id="30" idx="0"/>
          </p:cNvCxnSpPr>
          <p:nvPr/>
        </p:nvCxnSpPr>
        <p:spPr>
          <a:xfrm flipH="1">
            <a:off x="7373764" y="4944271"/>
            <a:ext cx="655114" cy="250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1DC2DD1B-0409-8C0F-0472-7614445A7BAA}"/>
              </a:ext>
            </a:extLst>
          </p:cNvPr>
          <p:cNvSpPr/>
          <p:nvPr/>
        </p:nvSpPr>
        <p:spPr>
          <a:xfrm>
            <a:off x="9082829" y="4455628"/>
            <a:ext cx="393075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ACB658-1244-31AE-7ACA-C7EA9FEB2C14}"/>
              </a:ext>
            </a:extLst>
          </p:cNvPr>
          <p:cNvCxnSpPr>
            <a:cxnSpLocks/>
            <a:stCxn id="38" idx="4"/>
            <a:endCxn id="31" idx="0"/>
          </p:cNvCxnSpPr>
          <p:nvPr/>
        </p:nvCxnSpPr>
        <p:spPr>
          <a:xfrm flipH="1">
            <a:off x="9191289" y="4876322"/>
            <a:ext cx="88078" cy="318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7A55D89-1D75-83EE-3866-88E4A746E4F9}"/>
              </a:ext>
            </a:extLst>
          </p:cNvPr>
          <p:cNvSpPr/>
          <p:nvPr/>
        </p:nvSpPr>
        <p:spPr>
          <a:xfrm>
            <a:off x="10094801" y="4444207"/>
            <a:ext cx="512034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0A42E4-012F-E86A-DA89-A9041776A672}"/>
              </a:ext>
            </a:extLst>
          </p:cNvPr>
          <p:cNvCxnSpPr>
            <a:cxnSpLocks/>
            <a:stCxn id="40" idx="5"/>
          </p:cNvCxnSpPr>
          <p:nvPr/>
        </p:nvCxnSpPr>
        <p:spPr>
          <a:xfrm>
            <a:off x="10531849" y="4803292"/>
            <a:ext cx="599817" cy="3916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025446-0393-8EE6-A81B-57DF50553C30}"/>
              </a:ext>
            </a:extLst>
          </p:cNvPr>
          <p:cNvSpPr txBox="1"/>
          <p:nvPr/>
        </p:nvSpPr>
        <p:spPr>
          <a:xfrm>
            <a:off x="6382788" y="3464413"/>
            <a:ext cx="1807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Generalised Lotka-Volterra 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gLV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08024E-9CF4-3F44-759A-2F1A1A78D219}"/>
              </a:ext>
            </a:extLst>
          </p:cNvPr>
          <p:cNvSpPr txBox="1"/>
          <p:nvPr/>
        </p:nvSpPr>
        <p:spPr>
          <a:xfrm>
            <a:off x="10293614" y="5197407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strengths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7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7" grpId="0"/>
      <p:bldP spid="18" grpId="0"/>
      <p:bldP spid="20" grpId="0"/>
      <p:bldP spid="19" grpId="0"/>
      <p:bldP spid="30" grpId="0"/>
      <p:bldP spid="31" grpId="0"/>
      <p:bldP spid="32" grpId="0" animBg="1"/>
      <p:bldP spid="38" grpId="0" animBg="1"/>
      <p:bldP spid="40" grpId="0" animBg="1"/>
      <p:bldP spid="42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8DB63-80B0-D67F-27C6-1CDEB9FC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F706-7315-45F6-A2C0-B3A63DE825F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D0F96-DB0A-D30C-29DA-43FCBA3E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90AB8-BB1C-6600-7DEC-85DECA43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2D6752-A9C6-AA49-DEBD-6F9CE0D3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98" y="668106"/>
            <a:ext cx="7432596" cy="5521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E87927-2AE3-5B82-61E4-1E1136DA872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Interactions in mechanistic models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34D00FCA-5BF0-4B20-FC0B-7BFD779BEA04}"/>
              </a:ext>
            </a:extLst>
          </p:cNvPr>
          <p:cNvSpPr txBox="1"/>
          <p:nvPr/>
        </p:nvSpPr>
        <p:spPr>
          <a:xfrm rot="16200000">
            <a:off x="7889851" y="4347772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288450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E467-FD88-FB6B-F10A-2BD0AA1F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8A6B6-AED8-A1A0-D755-DC1FB3A4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230F-89B9-4CFB-94B2-3B4EB09E8E2C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D652D-3CBE-1D70-2701-BBB0D221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F7BF-7F79-62A6-971E-E549DB8D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5C1AA-F195-E3DE-82FF-7DC42A79F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49" y="814948"/>
            <a:ext cx="7011846" cy="5414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EEF033-5048-FA9E-4FEE-869E3A0A579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Composite interactions are net effects of individual mechanisms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E1424-58E4-724A-1F9B-473E1CE440AA}"/>
              </a:ext>
            </a:extLst>
          </p:cNvPr>
          <p:cNvSpPr/>
          <p:nvPr/>
        </p:nvSpPr>
        <p:spPr>
          <a:xfrm>
            <a:off x="4983192" y="1439001"/>
            <a:ext cx="2225615" cy="4710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1C33-A59C-E3F7-4BAE-F0D96C99F887}"/>
              </a:ext>
            </a:extLst>
          </p:cNvPr>
          <p:cNvSpPr/>
          <p:nvPr/>
        </p:nvSpPr>
        <p:spPr>
          <a:xfrm>
            <a:off x="7290043" y="1439001"/>
            <a:ext cx="2225615" cy="4710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C0AF1E4-23C8-58E4-E72F-39851A3AA6C1}"/>
              </a:ext>
            </a:extLst>
          </p:cNvPr>
          <p:cNvSpPr txBox="1"/>
          <p:nvPr/>
        </p:nvSpPr>
        <p:spPr>
          <a:xfrm rot="16200000">
            <a:off x="7972946" y="4387490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59898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2CEBF-657A-13CC-0469-7C78A035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4850B-ECA6-E9D2-6092-D16EE4B3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3E9-22C3-422B-80A0-7C11178456D4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E522C-856E-686C-ED7D-71C4ECD8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1E553-8CE4-7C18-DB62-BD21A876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F57DE-2F30-4196-E987-D7AAC26F062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Deriving a general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/EO mapping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18B77F-154F-6B91-7240-847EF15CB130}"/>
                  </a:ext>
                </a:extLst>
              </p:cNvPr>
              <p:cNvSpPr txBox="1"/>
              <p:nvPr/>
            </p:nvSpPr>
            <p:spPr>
              <a:xfrm>
                <a:off x="1097280" y="4404890"/>
                <a:ext cx="5351315" cy="784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258CA9-BFFC-BFDB-1732-90F14D32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404890"/>
                <a:ext cx="5351315" cy="784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33">
                <a:extLst>
                  <a:ext uri="{FF2B5EF4-FFF2-40B4-BE49-F238E27FC236}">
                    <a16:creationId xmlns:a16="http://schemas.microsoft.com/office/drawing/2014/main" id="{A90C7E07-8774-8F33-6B11-EDE7A542BA7D}"/>
                  </a:ext>
                </a:extLst>
              </p:cNvPr>
              <p:cNvSpPr txBox="1"/>
              <p:nvPr/>
            </p:nvSpPr>
            <p:spPr>
              <a:xfrm>
                <a:off x="1898386" y="5394549"/>
                <a:ext cx="1874552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7" name="ZoneTexte 33">
                <a:extLst>
                  <a:ext uri="{FF2B5EF4-FFF2-40B4-BE49-F238E27FC236}">
                    <a16:creationId xmlns:a16="http://schemas.microsoft.com/office/drawing/2014/main" id="{6A4FC5EE-BA9F-9CE8-B1CA-DC90B8222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386" y="5394549"/>
                <a:ext cx="1874552" cy="636264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5B3383-9B27-AF7D-C427-ED3962CFE941}"/>
              </a:ext>
            </a:extLst>
          </p:cNvPr>
          <p:cNvCxnSpPr>
            <a:cxnSpLocks/>
          </p:cNvCxnSpPr>
          <p:nvPr/>
        </p:nvCxnSpPr>
        <p:spPr>
          <a:xfrm>
            <a:off x="6249391" y="942975"/>
            <a:ext cx="0" cy="514406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0DF94F-9201-6154-1F04-BA5A9F8CD260}"/>
              </a:ext>
            </a:extLst>
          </p:cNvPr>
          <p:cNvSpPr txBox="1"/>
          <p:nvPr/>
        </p:nvSpPr>
        <p:spPr>
          <a:xfrm>
            <a:off x="859458" y="787382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Environment-Organism models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AB466-79A4-A9B4-21F4-41C6B334FE53}"/>
              </a:ext>
            </a:extLst>
          </p:cNvPr>
          <p:cNvSpPr txBox="1"/>
          <p:nvPr/>
        </p:nvSpPr>
        <p:spPr>
          <a:xfrm>
            <a:off x="6783184" y="787382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Phenomenological model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7E7FE1-5B91-02F1-A601-6132FBC0134C}"/>
              </a:ext>
            </a:extLst>
          </p:cNvPr>
          <p:cNvSpPr/>
          <p:nvPr/>
        </p:nvSpPr>
        <p:spPr>
          <a:xfrm>
            <a:off x="8409698" y="1607135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5202F28F-6566-9D45-8894-5B6A3AB209A4}"/>
              </a:ext>
            </a:extLst>
          </p:cNvPr>
          <p:cNvCxnSpPr>
            <a:stCxn id="13" idx="6"/>
            <a:endCxn id="13" idx="2"/>
          </p:cNvCxnSpPr>
          <p:nvPr/>
        </p:nvCxnSpPr>
        <p:spPr>
          <a:xfrm flipH="1">
            <a:off x="8409698" y="2512468"/>
            <a:ext cx="1810666" cy="12700"/>
          </a:xfrm>
          <a:prstGeom prst="curvedConnector5">
            <a:avLst>
              <a:gd name="adj1" fmla="val -12625"/>
              <a:gd name="adj2" fmla="val 8928606"/>
              <a:gd name="adj3" fmla="val 112625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559CF9-CF36-50CF-6577-EE379DD5F077}"/>
                  </a:ext>
                </a:extLst>
              </p:cNvPr>
              <p:cNvSpPr txBox="1"/>
              <p:nvPr/>
            </p:nvSpPr>
            <p:spPr>
              <a:xfrm>
                <a:off x="9731829" y="3440200"/>
                <a:ext cx="1361491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C06D91-9524-F1F7-2A31-3FC5F3BCF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29" y="3440200"/>
                <a:ext cx="1361491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CDD1FB-DF8F-D31C-F7A8-BB3F7E6BF1E5}"/>
              </a:ext>
            </a:extLst>
          </p:cNvPr>
          <p:cNvSpPr txBox="1"/>
          <p:nvPr/>
        </p:nvSpPr>
        <p:spPr>
          <a:xfrm>
            <a:off x="8217849" y="2064819"/>
            <a:ext cx="219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116EE2-5087-EF02-1479-83D992BF85E5}"/>
                  </a:ext>
                </a:extLst>
              </p:cNvPr>
              <p:cNvSpPr txBox="1"/>
              <p:nvPr/>
            </p:nvSpPr>
            <p:spPr>
              <a:xfrm>
                <a:off x="8769190" y="2518818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0AB566-84FE-C00E-2B3E-50EABB0F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190" y="2518818"/>
                <a:ext cx="109168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E408B6F3-3160-C592-3369-7487880C7601}"/>
              </a:ext>
            </a:extLst>
          </p:cNvPr>
          <p:cNvSpPr/>
          <p:nvPr/>
        </p:nvSpPr>
        <p:spPr>
          <a:xfrm>
            <a:off x="4143190" y="1855069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AA2DFE-7172-C601-5041-040AC43FD4E3}"/>
              </a:ext>
            </a:extLst>
          </p:cNvPr>
          <p:cNvSpPr txBox="1"/>
          <p:nvPr/>
        </p:nvSpPr>
        <p:spPr>
          <a:xfrm>
            <a:off x="3951341" y="2312753"/>
            <a:ext cx="219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Organisms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FC245DB-1C6B-4B3E-5129-2A58BBDFAFED}"/>
                  </a:ext>
                </a:extLst>
              </p:cNvPr>
              <p:cNvSpPr txBox="1"/>
              <p:nvPr/>
            </p:nvSpPr>
            <p:spPr>
              <a:xfrm>
                <a:off x="4502682" y="2766752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DFEA27-3A38-ACEF-ECAC-50E960C89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682" y="2766752"/>
                <a:ext cx="109168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55BAB4FE-1084-FB79-0DE1-6F8D57636D2B}"/>
              </a:ext>
            </a:extLst>
          </p:cNvPr>
          <p:cNvSpPr/>
          <p:nvPr/>
        </p:nvSpPr>
        <p:spPr>
          <a:xfrm>
            <a:off x="1503929" y="1855069"/>
            <a:ext cx="1810666" cy="181066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5DDEAC-E3CA-37FF-06DE-6F0D5CDC8482}"/>
              </a:ext>
            </a:extLst>
          </p:cNvPr>
          <p:cNvSpPr txBox="1"/>
          <p:nvPr/>
        </p:nvSpPr>
        <p:spPr>
          <a:xfrm>
            <a:off x="1512897" y="2490036"/>
            <a:ext cx="1810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Environmental factors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24F37B-E070-057C-B266-A96481781066}"/>
                  </a:ext>
                </a:extLst>
              </p:cNvPr>
              <p:cNvSpPr txBox="1"/>
              <p:nvPr/>
            </p:nvSpPr>
            <p:spPr>
              <a:xfrm>
                <a:off x="1863421" y="3046673"/>
                <a:ext cx="10916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2557E0-2BE7-8884-2380-5D30B0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421" y="3046673"/>
                <a:ext cx="109168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F9215C97-5AD7-76CB-51BA-4124D9D4C0D8}"/>
              </a:ext>
            </a:extLst>
          </p:cNvPr>
          <p:cNvCxnSpPr>
            <a:stCxn id="24" idx="7"/>
            <a:endCxn id="21" idx="1"/>
          </p:cNvCxnSpPr>
          <p:nvPr/>
        </p:nvCxnSpPr>
        <p:spPr>
          <a:xfrm rot="5400000" flipH="1" flipV="1">
            <a:off x="3728892" y="1440772"/>
            <a:ext cx="12700" cy="1358927"/>
          </a:xfrm>
          <a:prstGeom prst="curvedConnector3">
            <a:avLst>
              <a:gd name="adj1" fmla="val 3887921"/>
            </a:avLst>
          </a:prstGeom>
          <a:ln w="57150">
            <a:solidFill>
              <a:srgbClr val="B90E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0AE50FD0-B960-AA4D-D512-B67528B19992}"/>
              </a:ext>
            </a:extLst>
          </p:cNvPr>
          <p:cNvCxnSpPr>
            <a:cxnSpLocks/>
            <a:stCxn id="21" idx="3"/>
            <a:endCxn id="24" idx="5"/>
          </p:cNvCxnSpPr>
          <p:nvPr/>
        </p:nvCxnSpPr>
        <p:spPr>
          <a:xfrm rot="5400000">
            <a:off x="3728893" y="2721106"/>
            <a:ext cx="12700" cy="1358927"/>
          </a:xfrm>
          <a:prstGeom prst="curvedConnector3">
            <a:avLst>
              <a:gd name="adj1" fmla="val 3887921"/>
            </a:avLst>
          </a:prstGeom>
          <a:ln w="57150">
            <a:solidFill>
              <a:srgbClr val="0298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4BCE7C-73B0-522E-5874-BAA992EC21AC}"/>
              </a:ext>
            </a:extLst>
          </p:cNvPr>
          <p:cNvCxnSpPr>
            <a:endCxn id="24" idx="2"/>
          </p:cNvCxnSpPr>
          <p:nvPr/>
        </p:nvCxnSpPr>
        <p:spPr>
          <a:xfrm flipV="1">
            <a:off x="403860" y="2760402"/>
            <a:ext cx="1100069" cy="635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F3D4DC-2CDE-4399-B6B6-32F0907CA37B}"/>
                  </a:ext>
                </a:extLst>
              </p:cNvPr>
              <p:cNvSpPr txBox="1"/>
              <p:nvPr/>
            </p:nvSpPr>
            <p:spPr>
              <a:xfrm>
                <a:off x="3078747" y="1724382"/>
                <a:ext cx="1361491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237881-BFB8-3A60-E89B-741DB26EE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747" y="1724382"/>
                <a:ext cx="1361491" cy="6182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C72C3CB-0836-CFCA-327E-05D498F47981}"/>
                  </a:ext>
                </a:extLst>
              </p:cNvPr>
              <p:cNvSpPr txBox="1"/>
              <p:nvPr/>
            </p:nvSpPr>
            <p:spPr>
              <a:xfrm>
                <a:off x="3043663" y="3150128"/>
                <a:ext cx="1361491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  <m:sub>
                              <m:r>
                                <a:rPr lang="en-GB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3FDD20-CC7D-9AA6-5969-D5DD86461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63" y="3150128"/>
                <a:ext cx="1361491" cy="628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8ED801C-5E04-C045-E5EF-F4CA96828F4F}"/>
                  </a:ext>
                </a:extLst>
              </p:cNvPr>
              <p:cNvSpPr txBox="1"/>
              <p:nvPr/>
            </p:nvSpPr>
            <p:spPr>
              <a:xfrm>
                <a:off x="249390" y="2028343"/>
                <a:ext cx="1361491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  <m:sub>
                              <m:r>
                                <a:rPr lang="en-GB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F83649E-6FAB-86AE-7296-2D02CF96A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0" y="2028343"/>
                <a:ext cx="1361491" cy="6285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74B1B1E7-5FDB-3700-B7D7-F9CB0598BF8F}"/>
              </a:ext>
            </a:extLst>
          </p:cNvPr>
          <p:cNvSpPr txBox="1"/>
          <p:nvPr/>
        </p:nvSpPr>
        <p:spPr>
          <a:xfrm>
            <a:off x="2835662" y="4094707"/>
            <a:ext cx="2046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0298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functions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298C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4F3ACB2C-84CB-D6A6-B01F-359124492072}"/>
              </a:ext>
            </a:extLst>
          </p:cNvPr>
          <p:cNvSpPr txBox="1"/>
          <p:nvPr/>
        </p:nvSpPr>
        <p:spPr>
          <a:xfrm>
            <a:off x="2476600" y="5947166"/>
            <a:ext cx="2185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B90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functions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B90E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C3711190-D145-F4AF-56C5-71A5C2803317}"/>
              </a:ext>
            </a:extLst>
          </p:cNvPr>
          <p:cNvSpPr txBox="1"/>
          <p:nvPr/>
        </p:nvSpPr>
        <p:spPr>
          <a:xfrm>
            <a:off x="4015916" y="4977247"/>
            <a:ext cx="1731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Allogenic function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33">
                <a:extLst>
                  <a:ext uri="{FF2B5EF4-FFF2-40B4-BE49-F238E27FC236}">
                    <a16:creationId xmlns:a16="http://schemas.microsoft.com/office/drawing/2014/main" id="{29E0FD3A-4378-47F2-FC9A-3741C8AABF0D}"/>
                  </a:ext>
                </a:extLst>
              </p:cNvPr>
              <p:cNvSpPr txBox="1"/>
              <p:nvPr/>
            </p:nvSpPr>
            <p:spPr>
              <a:xfrm>
                <a:off x="7995911" y="4296123"/>
                <a:ext cx="2904000" cy="784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CH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9" name="ZoneTexte 33">
                <a:extLst>
                  <a:ext uri="{FF2B5EF4-FFF2-40B4-BE49-F238E27FC236}">
                    <a16:creationId xmlns:a16="http://schemas.microsoft.com/office/drawing/2014/main" id="{29E0FD3A-4378-47F2-FC9A-3741C8AAB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911" y="4296123"/>
                <a:ext cx="2904000" cy="7843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A7286D-AEC8-0620-A7E0-51546ADF4C61}"/>
              </a:ext>
            </a:extLst>
          </p:cNvPr>
          <p:cNvSpPr txBox="1"/>
          <p:nvPr/>
        </p:nvSpPr>
        <p:spPr>
          <a:xfrm>
            <a:off x="6379861" y="5194963"/>
            <a:ext cx="1987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Per-capita growth rate (PCGR)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EDE8D6-DB4F-55CF-4CD4-E860F15347B2}"/>
              </a:ext>
            </a:extLst>
          </p:cNvPr>
          <p:cNvSpPr txBox="1"/>
          <p:nvPr/>
        </p:nvSpPr>
        <p:spPr>
          <a:xfrm>
            <a:off x="8287776" y="5194963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Intrinsic growth rates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72B2D54-D43B-602A-9994-842922539C93}"/>
              </a:ext>
            </a:extLst>
          </p:cNvPr>
          <p:cNvSpPr/>
          <p:nvPr/>
        </p:nvSpPr>
        <p:spPr>
          <a:xfrm>
            <a:off x="7882670" y="4150244"/>
            <a:ext cx="998372" cy="93026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E27BD8-A203-60DD-F4C1-9ECC5D7066C3}"/>
              </a:ext>
            </a:extLst>
          </p:cNvPr>
          <p:cNvCxnSpPr>
            <a:stCxn id="32" idx="3"/>
            <a:endCxn id="30" idx="0"/>
          </p:cNvCxnSpPr>
          <p:nvPr/>
        </p:nvCxnSpPr>
        <p:spPr>
          <a:xfrm flipH="1">
            <a:off x="7373764" y="4944271"/>
            <a:ext cx="655114" cy="250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1C3E29B-B5AA-407F-0544-CB49F0D53CC1}"/>
              </a:ext>
            </a:extLst>
          </p:cNvPr>
          <p:cNvSpPr/>
          <p:nvPr/>
        </p:nvSpPr>
        <p:spPr>
          <a:xfrm>
            <a:off x="9082829" y="4455628"/>
            <a:ext cx="393075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3726D9-C341-8712-5818-62BEEC85B478}"/>
              </a:ext>
            </a:extLst>
          </p:cNvPr>
          <p:cNvCxnSpPr>
            <a:cxnSpLocks/>
            <a:stCxn id="38" idx="4"/>
            <a:endCxn id="31" idx="0"/>
          </p:cNvCxnSpPr>
          <p:nvPr/>
        </p:nvCxnSpPr>
        <p:spPr>
          <a:xfrm flipH="1">
            <a:off x="9191289" y="4876322"/>
            <a:ext cx="88078" cy="318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4747B1A9-B342-BFE6-8471-B7664B4DD25D}"/>
              </a:ext>
            </a:extLst>
          </p:cNvPr>
          <p:cNvSpPr/>
          <p:nvPr/>
        </p:nvSpPr>
        <p:spPr>
          <a:xfrm>
            <a:off x="10094801" y="4444207"/>
            <a:ext cx="512034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8FC898C-2047-ED62-58BF-143C2497DDE5}"/>
              </a:ext>
            </a:extLst>
          </p:cNvPr>
          <p:cNvCxnSpPr>
            <a:cxnSpLocks/>
            <a:stCxn id="40" idx="5"/>
          </p:cNvCxnSpPr>
          <p:nvPr/>
        </p:nvCxnSpPr>
        <p:spPr>
          <a:xfrm>
            <a:off x="10531849" y="4803292"/>
            <a:ext cx="599817" cy="3916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725CA4D-1DAD-4B4D-4C9E-D7161B9273B5}"/>
              </a:ext>
            </a:extLst>
          </p:cNvPr>
          <p:cNvSpPr txBox="1"/>
          <p:nvPr/>
        </p:nvSpPr>
        <p:spPr>
          <a:xfrm>
            <a:off x="10293614" y="5197407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strengths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D0E826-F6F1-06B5-CA71-450AE8A9DF4B}"/>
              </a:ext>
            </a:extLst>
          </p:cNvPr>
          <p:cNvSpPr txBox="1"/>
          <p:nvPr/>
        </p:nvSpPr>
        <p:spPr>
          <a:xfrm>
            <a:off x="6382788" y="3464413"/>
            <a:ext cx="1807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Generalised Lotka-Volterra 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gLV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9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00344-EB33-502A-DF95-6238E2F7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3E1E-6E77-4B1C-B89A-2940E3B2A185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52A08-569F-F43F-9D5B-3BFF7803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66575-7D2B-8DBF-3AC2-27C4A844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CECD6-55BD-E6B1-B27E-FD799284BF8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Deriving a general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/EO mapping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33">
                <a:extLst>
                  <a:ext uri="{FF2B5EF4-FFF2-40B4-BE49-F238E27FC236}">
                    <a16:creationId xmlns:a16="http://schemas.microsoft.com/office/drawing/2014/main" id="{A48227FC-16CB-9B58-70B0-576D1D09719B}"/>
                  </a:ext>
                </a:extLst>
              </p:cNvPr>
              <p:cNvSpPr txBox="1"/>
              <p:nvPr/>
            </p:nvSpPr>
            <p:spPr>
              <a:xfrm>
                <a:off x="1396139" y="984595"/>
                <a:ext cx="1874552" cy="636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6" name="ZoneTexte 33">
                <a:extLst>
                  <a:ext uri="{FF2B5EF4-FFF2-40B4-BE49-F238E27FC236}">
                    <a16:creationId xmlns:a16="http://schemas.microsoft.com/office/drawing/2014/main" id="{A48227FC-16CB-9B58-70B0-576D1D097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139" y="984595"/>
                <a:ext cx="1874552" cy="636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81B83-2339-9301-494E-315EA9FFFC76}"/>
                  </a:ext>
                </a:extLst>
              </p:cNvPr>
              <p:cNvSpPr txBox="1"/>
              <p:nvPr/>
            </p:nvSpPr>
            <p:spPr>
              <a:xfrm>
                <a:off x="6759615" y="3036809"/>
                <a:ext cx="2976190" cy="784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81B83-2339-9301-494E-315EA9FFF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615" y="3036809"/>
                <a:ext cx="2976190" cy="784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48D1199-5CFB-81F7-685E-6D708C616ABF}"/>
              </a:ext>
            </a:extLst>
          </p:cNvPr>
          <p:cNvSpPr txBox="1"/>
          <p:nvPr/>
        </p:nvSpPr>
        <p:spPr>
          <a:xfrm>
            <a:off x="3970489" y="984595"/>
            <a:ext cx="6388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Sensitivity functions define per-capita growth rates (PCGRs) in environment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33">
                <a:extLst>
                  <a:ext uri="{FF2B5EF4-FFF2-40B4-BE49-F238E27FC236}">
                    <a16:creationId xmlns:a16="http://schemas.microsoft.com/office/drawing/2014/main" id="{6B4EB670-80FC-A9B0-B899-9E2728F05EFA}"/>
                  </a:ext>
                </a:extLst>
              </p:cNvPr>
              <p:cNvSpPr txBox="1"/>
              <p:nvPr/>
            </p:nvSpPr>
            <p:spPr>
              <a:xfrm>
                <a:off x="770520" y="2020679"/>
                <a:ext cx="4477187" cy="700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B90E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rgbClr val="B90E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rgbClr val="B90E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GB" sz="2000" b="0" i="1" smtClean="0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fr-CH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0" name="ZoneTexte 33">
                <a:extLst>
                  <a:ext uri="{FF2B5EF4-FFF2-40B4-BE49-F238E27FC236}">
                    <a16:creationId xmlns:a16="http://schemas.microsoft.com/office/drawing/2014/main" id="{6B4EB670-80FC-A9B0-B899-9E2728F05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0" y="2020679"/>
                <a:ext cx="4477187" cy="700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5D52CB6-0C16-751C-143F-D89D145ED04B}"/>
              </a:ext>
            </a:extLst>
          </p:cNvPr>
          <p:cNvSpPr txBox="1"/>
          <p:nvPr/>
        </p:nvSpPr>
        <p:spPr>
          <a:xfrm>
            <a:off x="5405894" y="2009926"/>
            <a:ext cx="6388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Temporal derivative of sensitivity function and multivariate chain rule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C844C4D-E5FA-799C-D42D-BA8A4709056C}"/>
              </a:ext>
            </a:extLst>
          </p:cNvPr>
          <p:cNvCxnSpPr>
            <a:stCxn id="7" idx="1"/>
          </p:cNvCxnSpPr>
          <p:nvPr/>
        </p:nvCxnSpPr>
        <p:spPr>
          <a:xfrm rot="10800000">
            <a:off x="4942391" y="2801074"/>
            <a:ext cx="1817225" cy="627927"/>
          </a:xfrm>
          <a:prstGeom prst="bentConnector3">
            <a:avLst>
              <a:gd name="adj1" fmla="val 100319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33">
                <a:extLst>
                  <a:ext uri="{FF2B5EF4-FFF2-40B4-BE49-F238E27FC236}">
                    <a16:creationId xmlns:a16="http://schemas.microsoft.com/office/drawing/2014/main" id="{F8016149-4AC7-F087-A555-6FB36A04AA42}"/>
                  </a:ext>
                </a:extLst>
              </p:cNvPr>
              <p:cNvSpPr txBox="1"/>
              <p:nvPr/>
            </p:nvSpPr>
            <p:spPr>
              <a:xfrm>
                <a:off x="874693" y="5069595"/>
                <a:ext cx="4391267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CH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5" name="ZoneTexte 33">
                <a:extLst>
                  <a:ext uri="{FF2B5EF4-FFF2-40B4-BE49-F238E27FC236}">
                    <a16:creationId xmlns:a16="http://schemas.microsoft.com/office/drawing/2014/main" id="{F8016149-4AC7-F087-A555-6FB36A04A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3" y="5069595"/>
                <a:ext cx="4391267" cy="803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33">
                <a:extLst>
                  <a:ext uri="{FF2B5EF4-FFF2-40B4-BE49-F238E27FC236}">
                    <a16:creationId xmlns:a16="http://schemas.microsoft.com/office/drawing/2014/main" id="{E7EE4303-BA52-6C20-AB60-389C95975201}"/>
                  </a:ext>
                </a:extLst>
              </p:cNvPr>
              <p:cNvSpPr txBox="1"/>
              <p:nvPr/>
            </p:nvSpPr>
            <p:spPr>
              <a:xfrm>
                <a:off x="874693" y="3857548"/>
                <a:ext cx="582986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0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sz="20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sz="20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1">
                                  <a:solidFill>
                                    <a:srgbClr val="B90E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rgbClr val="B90E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rgbClr val="B90E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rgbClr val="B90E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B90E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>
                                      <a:solidFill>
                                        <a:srgbClr val="B90E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rgbClr val="0298C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solidFill>
                                        <a:srgbClr val="0298C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CH" sz="2000" i="1">
                                      <a:solidFill>
                                        <a:srgbClr val="0298C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GB" sz="2000" i="1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000" b="1" i="1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sz="2000" i="1">
                                  <a:solidFill>
                                    <a:srgbClr val="0298C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6" name="ZoneTexte 33">
                <a:extLst>
                  <a:ext uri="{FF2B5EF4-FFF2-40B4-BE49-F238E27FC236}">
                    <a16:creationId xmlns:a16="http://schemas.microsoft.com/office/drawing/2014/main" id="{E7EE4303-BA52-6C20-AB60-389C95975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93" y="3857548"/>
                <a:ext cx="5829866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E4EF71-2BA8-5261-1EF3-4FF4582025DA}"/>
                  </a:ext>
                </a:extLst>
              </p:cNvPr>
              <p:cNvSpPr txBox="1"/>
              <p:nvPr/>
            </p:nvSpPr>
            <p:spPr>
              <a:xfrm>
                <a:off x="5713561" y="4870471"/>
                <a:ext cx="2649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E4EF71-2BA8-5261-1EF3-4FF458202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561" y="4870471"/>
                <a:ext cx="2649273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73C910-F6B3-6A7C-8D86-56AC47FEB65A}"/>
                  </a:ext>
                </a:extLst>
              </p:cNvPr>
              <p:cNvSpPr txBox="1"/>
              <p:nvPr/>
            </p:nvSpPr>
            <p:spPr>
              <a:xfrm>
                <a:off x="8578802" y="4858096"/>
                <a:ext cx="2858849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73C910-F6B3-6A7C-8D86-56AC47FE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802" y="4858096"/>
                <a:ext cx="2858849" cy="394082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673F7A3-306B-21F5-A19A-840A73165C30}"/>
              </a:ext>
            </a:extLst>
          </p:cNvPr>
          <p:cNvSpPr txBox="1"/>
          <p:nvPr/>
        </p:nvSpPr>
        <p:spPr>
          <a:xfrm>
            <a:off x="6134686" y="5359709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A7CD3-4C1E-FAA8-7A80-4332BBFE06D0}"/>
              </a:ext>
            </a:extLst>
          </p:cNvPr>
          <p:cNvSpPr txBox="1"/>
          <p:nvPr/>
        </p:nvSpPr>
        <p:spPr>
          <a:xfrm>
            <a:off x="8971363" y="5359709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1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5" grpId="0"/>
      <p:bldP spid="16" grpId="0"/>
      <p:bldP spid="19" grpId="0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EB27A-2B82-B621-3DC1-2AA4859A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30BA-A231-41FF-861A-3BF7E3BF2045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AC666-8E38-0F52-817D-5E54C17E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BBAFF-03CF-2DFE-2C17-6D94782D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61088-9B4F-0619-7B4A-52B7DEDC426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Deriving a general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/EO mapping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C5BB8D-7584-8E27-E475-991B8238F282}"/>
              </a:ext>
            </a:extLst>
          </p:cNvPr>
          <p:cNvCxnSpPr>
            <a:cxnSpLocks/>
          </p:cNvCxnSpPr>
          <p:nvPr/>
        </p:nvCxnSpPr>
        <p:spPr>
          <a:xfrm>
            <a:off x="6249391" y="942975"/>
            <a:ext cx="0" cy="375742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75607854-9122-AD3D-4A28-27709D92D20E}"/>
                  </a:ext>
                </a:extLst>
              </p:cNvPr>
              <p:cNvSpPr txBox="1"/>
              <p:nvPr/>
            </p:nvSpPr>
            <p:spPr>
              <a:xfrm>
                <a:off x="7908403" y="2066003"/>
                <a:ext cx="2904000" cy="784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CH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75607854-9122-AD3D-4A28-27709D92D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403" y="2066003"/>
                <a:ext cx="2904000" cy="784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EFBE732-B1BF-60FC-070A-88405D9F2303}"/>
              </a:ext>
            </a:extLst>
          </p:cNvPr>
          <p:cNvSpPr txBox="1"/>
          <p:nvPr/>
        </p:nvSpPr>
        <p:spPr>
          <a:xfrm>
            <a:off x="6292353" y="2964843"/>
            <a:ext cx="1987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Per-capita growth rate (PCGR)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6177B1-5E1D-6868-0F2F-87A593E6F2E8}"/>
              </a:ext>
            </a:extLst>
          </p:cNvPr>
          <p:cNvSpPr txBox="1"/>
          <p:nvPr/>
        </p:nvSpPr>
        <p:spPr>
          <a:xfrm>
            <a:off x="8200268" y="2964843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Intrinsic growth rates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83053-3BF1-94F0-24A0-3AA59303A4A0}"/>
              </a:ext>
            </a:extLst>
          </p:cNvPr>
          <p:cNvSpPr txBox="1"/>
          <p:nvPr/>
        </p:nvSpPr>
        <p:spPr>
          <a:xfrm>
            <a:off x="10007293" y="2964843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strengths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1880E-E6CC-4A01-FA7E-E085492CAF84}"/>
              </a:ext>
            </a:extLst>
          </p:cNvPr>
          <p:cNvSpPr/>
          <p:nvPr/>
        </p:nvSpPr>
        <p:spPr>
          <a:xfrm>
            <a:off x="7795162" y="1920124"/>
            <a:ext cx="998372" cy="93026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A82EBD-129C-B39F-276D-7DC80CB7D7AF}"/>
              </a:ext>
            </a:extLst>
          </p:cNvPr>
          <p:cNvCxnSpPr>
            <a:stCxn id="12" idx="3"/>
            <a:endCxn id="9" idx="0"/>
          </p:cNvCxnSpPr>
          <p:nvPr/>
        </p:nvCxnSpPr>
        <p:spPr>
          <a:xfrm flipH="1">
            <a:off x="7286256" y="2714151"/>
            <a:ext cx="655114" cy="250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B26A862-22A3-F539-68CB-C7531D3B3978}"/>
              </a:ext>
            </a:extLst>
          </p:cNvPr>
          <p:cNvSpPr/>
          <p:nvPr/>
        </p:nvSpPr>
        <p:spPr>
          <a:xfrm>
            <a:off x="8995321" y="2225508"/>
            <a:ext cx="393075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F7B634-8A97-89CE-A623-A06EA9980471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 flipH="1">
            <a:off x="9103781" y="2646202"/>
            <a:ext cx="88078" cy="318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66237CF-DC51-ACE6-0B92-63B1B495E25C}"/>
              </a:ext>
            </a:extLst>
          </p:cNvPr>
          <p:cNvSpPr/>
          <p:nvPr/>
        </p:nvSpPr>
        <p:spPr>
          <a:xfrm>
            <a:off x="10007293" y="2214087"/>
            <a:ext cx="512034" cy="42069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696403-10B2-F9B0-7C09-8AC1BBE2C5BC}"/>
              </a:ext>
            </a:extLst>
          </p:cNvPr>
          <p:cNvCxnSpPr>
            <a:cxnSpLocks/>
            <a:stCxn id="16" idx="5"/>
            <a:endCxn id="11" idx="0"/>
          </p:cNvCxnSpPr>
          <p:nvPr/>
        </p:nvCxnSpPr>
        <p:spPr>
          <a:xfrm>
            <a:off x="10444341" y="2573172"/>
            <a:ext cx="599817" cy="3916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CAC4AD-3841-06E0-301A-01027288D0F2}"/>
              </a:ext>
            </a:extLst>
          </p:cNvPr>
          <p:cNvSpPr txBox="1"/>
          <p:nvPr/>
        </p:nvSpPr>
        <p:spPr>
          <a:xfrm>
            <a:off x="859458" y="787382"/>
            <a:ext cx="4623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Accelerational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Environment-Organism (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aEO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) equation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0F34AC-5B0B-9653-A747-45CA497DB6C5}"/>
              </a:ext>
            </a:extLst>
          </p:cNvPr>
          <p:cNvSpPr txBox="1"/>
          <p:nvPr/>
        </p:nvSpPr>
        <p:spPr>
          <a:xfrm>
            <a:off x="7003090" y="787382"/>
            <a:ext cx="4623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Generalised Lotka-Volterra (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gLV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) equation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33">
                <a:extLst>
                  <a:ext uri="{FF2B5EF4-FFF2-40B4-BE49-F238E27FC236}">
                    <a16:creationId xmlns:a16="http://schemas.microsoft.com/office/drawing/2014/main" id="{6E33E076-F657-DADD-2D20-6C0DE0C9BC76}"/>
                  </a:ext>
                </a:extLst>
              </p:cNvPr>
              <p:cNvSpPr txBox="1"/>
              <p:nvPr/>
            </p:nvSpPr>
            <p:spPr>
              <a:xfrm>
                <a:off x="857443" y="1910341"/>
                <a:ext cx="4465197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fr-CH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fr-CH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fr-CH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21" name="ZoneTexte 33">
                <a:extLst>
                  <a:ext uri="{FF2B5EF4-FFF2-40B4-BE49-F238E27FC236}">
                    <a16:creationId xmlns:a16="http://schemas.microsoft.com/office/drawing/2014/main" id="{6E33E076-F657-DADD-2D20-6C0DE0C9B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43" y="1910341"/>
                <a:ext cx="4465197" cy="803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5D56AF0-95D3-B85E-88D5-61180436256B}"/>
              </a:ext>
            </a:extLst>
          </p:cNvPr>
          <p:cNvSpPr txBox="1"/>
          <p:nvPr/>
        </p:nvSpPr>
        <p:spPr>
          <a:xfrm>
            <a:off x="16935" y="3684741"/>
            <a:ext cx="21748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Per-capita growth acceleration (PCGA)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1C80B4-92F2-4625-CB68-BE274DE7D74D}"/>
              </a:ext>
            </a:extLst>
          </p:cNvPr>
          <p:cNvSpPr/>
          <p:nvPr/>
        </p:nvSpPr>
        <p:spPr>
          <a:xfrm>
            <a:off x="791375" y="1667128"/>
            <a:ext cx="1484343" cy="122230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C0ED1B-FB8D-8F8F-C936-10993062B6DA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1104339" y="2889437"/>
            <a:ext cx="429208" cy="7953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0A1863D-CAD7-4323-D378-574E7A3EDBD6}"/>
              </a:ext>
            </a:extLst>
          </p:cNvPr>
          <p:cNvSpPr txBox="1"/>
          <p:nvPr/>
        </p:nvSpPr>
        <p:spPr>
          <a:xfrm>
            <a:off x="2191743" y="3684741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340EE-1547-679E-7F9F-99FC005BAAD8}"/>
              </a:ext>
            </a:extLst>
          </p:cNvPr>
          <p:cNvSpPr txBox="1"/>
          <p:nvPr/>
        </p:nvSpPr>
        <p:spPr>
          <a:xfrm>
            <a:off x="3998768" y="3684741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6F2812-0B5B-8B6A-0589-AD3B8EA8F04C}"/>
                  </a:ext>
                </a:extLst>
              </p:cNvPr>
              <p:cNvSpPr txBox="1"/>
              <p:nvPr/>
            </p:nvSpPr>
            <p:spPr>
              <a:xfrm>
                <a:off x="4094814" y="3287089"/>
                <a:ext cx="1884398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6F2812-0B5B-8B6A-0589-AD3B8EA8F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14" y="3287089"/>
                <a:ext cx="1884398" cy="39408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0F19BD-D904-8FBA-2F1B-4543B47F0612}"/>
                  </a:ext>
                </a:extLst>
              </p:cNvPr>
              <p:cNvSpPr txBox="1"/>
              <p:nvPr/>
            </p:nvSpPr>
            <p:spPr>
              <a:xfrm>
                <a:off x="2191743" y="3287089"/>
                <a:ext cx="18843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0F19BD-D904-8FBA-2F1B-4543B47F0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743" y="3287089"/>
                <a:ext cx="188439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ED5D8FDF-9DD9-FEFA-D661-4422C8B9A56A}"/>
              </a:ext>
            </a:extLst>
          </p:cNvPr>
          <p:cNvSpPr/>
          <p:nvPr/>
        </p:nvSpPr>
        <p:spPr>
          <a:xfrm>
            <a:off x="2513674" y="2029302"/>
            <a:ext cx="840528" cy="54053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C86302-2A28-34B8-9B04-2BE17689C75C}"/>
              </a:ext>
            </a:extLst>
          </p:cNvPr>
          <p:cNvSpPr/>
          <p:nvPr/>
        </p:nvSpPr>
        <p:spPr>
          <a:xfrm>
            <a:off x="3988541" y="2008015"/>
            <a:ext cx="1047091" cy="54053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A55786-8BF2-EAFE-14BE-EECB1AA1A694}"/>
              </a:ext>
            </a:extLst>
          </p:cNvPr>
          <p:cNvCxnSpPr>
            <a:cxnSpLocks/>
            <a:stCxn id="30" idx="5"/>
          </p:cNvCxnSpPr>
          <p:nvPr/>
        </p:nvCxnSpPr>
        <p:spPr>
          <a:xfrm>
            <a:off x="4882289" y="2469390"/>
            <a:ext cx="361356" cy="8141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734B8E-2EAC-115D-1D02-48D408B55066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>
          <a:xfrm>
            <a:off x="2933938" y="2569836"/>
            <a:ext cx="200004" cy="7172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CC88ED6-0283-E4D0-AF3D-D76C4435A12E}"/>
              </a:ext>
            </a:extLst>
          </p:cNvPr>
          <p:cNvSpPr txBox="1"/>
          <p:nvPr/>
        </p:nvSpPr>
        <p:spPr>
          <a:xfrm>
            <a:off x="227635" y="5101626"/>
            <a:ext cx="11497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At equilibrium, these are algebraically equivalent! </a:t>
            </a:r>
            <a:endParaRPr lang="en-GB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20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CC89B8-6C31-C612-9641-475E272C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D230F-89B9-4CFB-94B2-3B4EB09E8E2C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E50B3-F667-B0DE-3B64-147A2C15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08A5E-8EAD-8943-EF13-CDB8F402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F3ED2-42DB-38B1-194F-7325D0F2F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006" y="814948"/>
            <a:ext cx="7011846" cy="5414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B9C59-B568-1E22-C06E-1EB0A61E01F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Composite interactions are net effects of individual mechanisms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2A043F5-506A-ECA8-1D63-9F25A2A6F2B9}"/>
              </a:ext>
            </a:extLst>
          </p:cNvPr>
          <p:cNvSpPr txBox="1"/>
          <p:nvPr/>
        </p:nvSpPr>
        <p:spPr>
          <a:xfrm rot="16200000">
            <a:off x="10003903" y="4387490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39C3E3-C5F9-1B45-940F-0DFBC62B9258}"/>
                  </a:ext>
                </a:extLst>
              </p:cNvPr>
              <p:cNvSpPr txBox="1"/>
              <p:nvPr/>
            </p:nvSpPr>
            <p:spPr>
              <a:xfrm>
                <a:off x="190687" y="3628943"/>
                <a:ext cx="3886915" cy="494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CH" sz="24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CH" sz="24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39C3E3-C5F9-1B45-940F-0DFBC62B9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87" y="3628943"/>
                <a:ext cx="3886915" cy="494559"/>
              </a:xfrm>
              <a:prstGeom prst="rect">
                <a:avLst/>
              </a:prstGeom>
              <a:blipFill>
                <a:blip r:embed="rId3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FEFB5C0-0134-047D-7F06-A5099D3DE915}"/>
              </a:ext>
            </a:extLst>
          </p:cNvPr>
          <p:cNvSpPr txBox="1"/>
          <p:nvPr/>
        </p:nvSpPr>
        <p:spPr>
          <a:xfrm>
            <a:off x="1097280" y="2921057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3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AF9B80-00B5-FA6C-85D9-1499CFC93139}"/>
              </a:ext>
            </a:extLst>
          </p:cNvPr>
          <p:cNvSpPr txBox="1"/>
          <p:nvPr/>
        </p:nvSpPr>
        <p:spPr>
          <a:xfrm>
            <a:off x="0" y="2844225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1: Why are interactions context-dependent?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890BCC-451E-031B-2E04-5D661895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E37E-D219-4975-A653-3488CFFADC9E}" type="datetime1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85A77-E130-D187-EE1A-B669F434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0EAEC-A75D-7293-A771-C55C1ED5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06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32D55-3F82-21EB-988D-F4ED514A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1702-CAF4-07A3-864B-CE4B9C265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43F2-B61B-34EB-D2B1-FC0D832B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554E9-DDA3-909C-D65E-8F3840C514E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The problem of context-dependency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FE4C2BC-94CC-6FC6-82B0-DDA10886F1D7}"/>
              </a:ext>
            </a:extLst>
          </p:cNvPr>
          <p:cNvSpPr txBox="1"/>
          <p:nvPr/>
        </p:nvSpPr>
        <p:spPr>
          <a:xfrm>
            <a:off x="1256978" y="4047740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Coyte et al. (2015) </a:t>
            </a:r>
            <a:r>
              <a:rPr lang="en-GB" sz="1200" b="1" i="1" dirty="0">
                <a:latin typeface="Arial Nova" panose="020B0504020202020204" pitchFamily="34" charset="0"/>
              </a:rPr>
              <a:t>Science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6BE9C-DFAF-17C7-E685-EDF77D067BC7}"/>
              </a:ext>
            </a:extLst>
          </p:cNvPr>
          <p:cNvGrpSpPr/>
          <p:nvPr/>
        </p:nvGrpSpPr>
        <p:grpSpPr>
          <a:xfrm>
            <a:off x="1256978" y="1879811"/>
            <a:ext cx="3156578" cy="2194901"/>
            <a:chOff x="6237588" y="1414985"/>
            <a:chExt cx="2758358" cy="1875471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DE7FCB74-A439-7969-3352-7E4BAA0C0A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264" b="53889"/>
            <a:stretch/>
          </p:blipFill>
          <p:spPr bwMode="auto">
            <a:xfrm>
              <a:off x="6237588" y="1471851"/>
              <a:ext cx="2758358" cy="1818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CCA9D-67E5-99FE-6761-707A422901BF}"/>
                </a:ext>
              </a:extLst>
            </p:cNvPr>
            <p:cNvSpPr/>
            <p:nvPr/>
          </p:nvSpPr>
          <p:spPr>
            <a:xfrm>
              <a:off x="6237588" y="1414985"/>
              <a:ext cx="301235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455B576A-381E-6320-D926-E687031344AD}"/>
              </a:ext>
            </a:extLst>
          </p:cNvPr>
          <p:cNvSpPr txBox="1"/>
          <p:nvPr/>
        </p:nvSpPr>
        <p:spPr>
          <a:xfrm>
            <a:off x="655150" y="1661870"/>
            <a:ext cx="436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Generalised Lotka-Volterra (</a:t>
            </a:r>
            <a:r>
              <a:rPr lang="en-GB" dirty="0" err="1">
                <a:solidFill>
                  <a:srgbClr val="000000"/>
                </a:solidFill>
                <a:latin typeface="Arial Nova" panose="020B0504020202020204" pitchFamily="34" charset="0"/>
              </a:rPr>
              <a:t>gLV</a:t>
            </a: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) model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ACC32D3-ADC5-9D03-1648-7B6F122E87F9}"/>
              </a:ext>
            </a:extLst>
          </p:cNvPr>
          <p:cNvSpPr txBox="1"/>
          <p:nvPr/>
        </p:nvSpPr>
        <p:spPr>
          <a:xfrm>
            <a:off x="655149" y="4646939"/>
            <a:ext cx="436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Ecological parameters (e.g. interaction strengths) are fixed values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F9AC68-B838-EDCE-D800-1BA05D809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702" y="1479146"/>
            <a:ext cx="4021573" cy="3899707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A98FB511-398D-D800-AFDD-0E5C915DFF08}"/>
              </a:ext>
            </a:extLst>
          </p:cNvPr>
          <p:cNvSpPr txBox="1"/>
          <p:nvPr/>
        </p:nvSpPr>
        <p:spPr>
          <a:xfrm rot="16200000">
            <a:off x="8926377" y="3368391"/>
            <a:ext cx="4021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/>
              <a:t>Chamberlain et al. (2014) </a:t>
            </a:r>
            <a:r>
              <a:rPr lang="en-GB" sz="1400" b="1" i="1" dirty="0"/>
              <a:t>Eco. Letts.</a:t>
            </a:r>
            <a:endParaRPr lang="en-GB" sz="1400" b="1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FDDB02D-AB2F-9D93-AA39-EC5FB8240E10}"/>
              </a:ext>
            </a:extLst>
          </p:cNvPr>
          <p:cNvSpPr txBox="1"/>
          <p:nvPr/>
        </p:nvSpPr>
        <p:spPr>
          <a:xfrm rot="16200000">
            <a:off x="4581584" y="3336097"/>
            <a:ext cx="43602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Fraction of studies finding chang</a:t>
            </a:r>
            <a:r>
              <a:rPr lang="en-GB" dirty="0">
                <a:solidFill>
                  <a:srgbClr val="000000"/>
                </a:solidFill>
                <a:latin typeface="Arial Nova" panose="020B0504020202020204" pitchFamily="34" charset="0"/>
              </a:rPr>
              <a:t>es in sign of interaction 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90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CFCD35-CB34-A039-3DAA-237A3C28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EFD1-061C-4667-A03F-A568BA598B1F}" type="datetime1">
              <a:rPr lang="en-GB" smtClean="0"/>
              <a:t>28/07/2026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EB0948-DB3C-6696-C5EF-D9D017E1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Accelerations in microbial ecosystems</a:t>
            </a: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215696-E149-730C-FE06-4B7A701B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17</a:t>
            </a:fld>
            <a:endParaRPr lang="fr-CH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9754E4D-983F-B9EE-BE5D-9FD13750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46" y="3165616"/>
            <a:ext cx="3840592" cy="2496850"/>
          </a:xfrm>
          <a:prstGeom prst="rect">
            <a:avLst/>
          </a:prstGeom>
        </p:spPr>
      </p:pic>
      <p:pic>
        <p:nvPicPr>
          <p:cNvPr id="39" name="Picture 38" descr="A chart of a number of cells&#10;&#10;Description automatically generated with medium confidence">
            <a:extLst>
              <a:ext uri="{FF2B5EF4-FFF2-40B4-BE49-F238E27FC236}">
                <a16:creationId xmlns:a16="http://schemas.microsoft.com/office/drawing/2014/main" id="{57B5BC20-601C-E91F-E73A-D142F43DA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46" y="3025699"/>
            <a:ext cx="3599064" cy="3201469"/>
          </a:xfrm>
          <a:prstGeom prst="rect">
            <a:avLst/>
          </a:prstGeom>
        </p:spPr>
      </p:pic>
      <p:pic>
        <p:nvPicPr>
          <p:cNvPr id="41" name="Picture 40" descr="A graph with red line and black line&#10;&#10;Description automatically generated">
            <a:extLst>
              <a:ext uri="{FF2B5EF4-FFF2-40B4-BE49-F238E27FC236}">
                <a16:creationId xmlns:a16="http://schemas.microsoft.com/office/drawing/2014/main" id="{4DEA6E0C-649A-622C-C32F-936D308C8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89" y="204291"/>
            <a:ext cx="3599064" cy="2733466"/>
          </a:xfrm>
          <a:prstGeom prst="rect">
            <a:avLst/>
          </a:prstGeom>
        </p:spPr>
      </p:pic>
      <p:pic>
        <p:nvPicPr>
          <p:cNvPr id="43" name="Picture 4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46D5E7F-9250-4EBA-D877-6BCFEF35F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84" y="1028700"/>
            <a:ext cx="3977546" cy="4975366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AE0D535-F626-D443-2F62-73AC20067B5D}"/>
              </a:ext>
            </a:extLst>
          </p:cNvPr>
          <p:cNvCxnSpPr>
            <a:endCxn id="41" idx="2"/>
          </p:cNvCxnSpPr>
          <p:nvPr/>
        </p:nvCxnSpPr>
        <p:spPr>
          <a:xfrm flipV="1">
            <a:off x="6572250" y="2937757"/>
            <a:ext cx="1105371" cy="87224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969323C-EAE8-8AEF-4283-DC4105E40B5B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5086350" y="4626434"/>
            <a:ext cx="3286596" cy="2122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CF33D79-4962-1286-1DB6-0CD90D5A7F4B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4252330" y="3516383"/>
            <a:ext cx="791158" cy="132231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3">
            <a:extLst>
              <a:ext uri="{FF2B5EF4-FFF2-40B4-BE49-F238E27FC236}">
                <a16:creationId xmlns:a16="http://schemas.microsoft.com/office/drawing/2014/main" id="{DCCD972A-2805-FF2A-6FE2-92ED55DAF80E}"/>
              </a:ext>
            </a:extLst>
          </p:cNvPr>
          <p:cNvSpPr txBox="1"/>
          <p:nvPr/>
        </p:nvSpPr>
        <p:spPr>
          <a:xfrm>
            <a:off x="252770" y="718478"/>
            <a:ext cx="4021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Wong et al. (2023) </a:t>
            </a:r>
            <a:r>
              <a:rPr lang="en-GB" sz="1400" b="1" i="1" dirty="0"/>
              <a:t>PNAS</a:t>
            </a:r>
            <a:endParaRPr lang="en-GB" sz="1400" b="1" dirty="0"/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6AEBFE61-9320-7BEF-FEC5-42CD35650688}"/>
              </a:ext>
            </a:extLst>
          </p:cNvPr>
          <p:cNvSpPr txBox="1"/>
          <p:nvPr/>
        </p:nvSpPr>
        <p:spPr>
          <a:xfrm rot="5400000">
            <a:off x="7620255" y="2012866"/>
            <a:ext cx="4021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Daniels et al. (2023) </a:t>
            </a:r>
            <a:r>
              <a:rPr lang="en-GB" sz="1400" b="1" i="1" dirty="0"/>
              <a:t>ISME J.</a:t>
            </a:r>
            <a:endParaRPr lang="en-GB" sz="1400" b="1" dirty="0"/>
          </a:p>
        </p:txBody>
      </p:sp>
      <p:sp>
        <p:nvSpPr>
          <p:cNvPr id="55" name="TextBox 3">
            <a:extLst>
              <a:ext uri="{FF2B5EF4-FFF2-40B4-BE49-F238E27FC236}">
                <a16:creationId xmlns:a16="http://schemas.microsoft.com/office/drawing/2014/main" id="{DBC80622-31DE-B41F-DBE6-E73CF0AE75E9}"/>
              </a:ext>
            </a:extLst>
          </p:cNvPr>
          <p:cNvSpPr txBox="1"/>
          <p:nvPr/>
        </p:nvSpPr>
        <p:spPr>
          <a:xfrm>
            <a:off x="7950437" y="2717922"/>
            <a:ext cx="4021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 err="1"/>
              <a:t>Piccardi</a:t>
            </a:r>
            <a:r>
              <a:rPr lang="en-GB" sz="1400" b="1" dirty="0"/>
              <a:t> et al. (2019) </a:t>
            </a:r>
            <a:r>
              <a:rPr lang="en-GB" sz="1400" b="1" i="1" dirty="0"/>
              <a:t>PNAS</a:t>
            </a:r>
            <a:endParaRPr lang="en-GB" sz="1400" b="1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839FA7C-65DF-B5CD-8E43-DC352C41C9A2}"/>
              </a:ext>
            </a:extLst>
          </p:cNvPr>
          <p:cNvSpPr/>
          <p:nvPr/>
        </p:nvSpPr>
        <p:spPr>
          <a:xfrm>
            <a:off x="6534574" y="3750734"/>
            <a:ext cx="94268" cy="942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5C60916-0C4E-D5BC-A26C-64CFBD10886C}"/>
              </a:ext>
            </a:extLst>
          </p:cNvPr>
          <p:cNvSpPr/>
          <p:nvPr/>
        </p:nvSpPr>
        <p:spPr>
          <a:xfrm>
            <a:off x="5019374" y="4791566"/>
            <a:ext cx="94268" cy="942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05A0C7D6-25F5-FEAC-5D7C-8E013A8A5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2002" y="191385"/>
            <a:ext cx="1588278" cy="2386620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7CA830FD-6023-F679-1FE1-57199B6589DA}"/>
              </a:ext>
            </a:extLst>
          </p:cNvPr>
          <p:cNvSpPr txBox="1"/>
          <p:nvPr/>
        </p:nvSpPr>
        <p:spPr>
          <a:xfrm>
            <a:off x="0" y="0"/>
            <a:ext cx="5419725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Types of context-dependency</a:t>
            </a:r>
          </a:p>
        </p:txBody>
      </p:sp>
    </p:spTree>
    <p:extLst>
      <p:ext uri="{BB962C8B-B14F-4D97-AF65-F5344CB8AC3E}">
        <p14:creationId xmlns:p14="http://schemas.microsoft.com/office/powerpoint/2010/main" val="143373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05052D4B-1775-5841-5ED3-42106B09C6DA}"/>
                  </a:ext>
                </a:extLst>
              </p:cNvPr>
              <p:cNvSpPr txBox="1"/>
              <p:nvPr/>
            </p:nvSpPr>
            <p:spPr>
              <a:xfrm>
                <a:off x="2802983" y="1941949"/>
                <a:ext cx="5328766" cy="964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fr-CH" sz="3600" dirty="0"/>
              </a:p>
            </p:txBody>
          </p:sp>
        </mc:Choice>
        <mc:Fallback xmlns="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05052D4B-1775-5841-5ED3-42106B09C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83" y="1941949"/>
                <a:ext cx="5328766" cy="964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B0B2CCF-B416-F812-97BF-2C79F84682E9}"/>
              </a:ext>
            </a:extLst>
          </p:cNvPr>
          <p:cNvSpPr txBox="1"/>
          <p:nvPr/>
        </p:nvSpPr>
        <p:spPr>
          <a:xfrm>
            <a:off x="533921" y="1220323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many systems (e.g. batch culture, closed microcosms), allogenic processes do not occur.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637190-C855-A4C0-BF97-E7025FE35C36}"/>
              </a:ext>
            </a:extLst>
          </p:cNvPr>
          <p:cNvCxnSpPr>
            <a:cxnSpLocks/>
          </p:cNvCxnSpPr>
          <p:nvPr/>
        </p:nvCxnSpPr>
        <p:spPr>
          <a:xfrm flipH="1">
            <a:off x="4664633" y="2051072"/>
            <a:ext cx="1219200" cy="8497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0516CB-366A-8F96-1B1C-B9C877FEC6A0}"/>
              </a:ext>
            </a:extLst>
          </p:cNvPr>
          <p:cNvSpPr txBox="1"/>
          <p:nvPr/>
        </p:nvSpPr>
        <p:spPr>
          <a:xfrm>
            <a:off x="4339177" y="2779960"/>
            <a:ext cx="295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61A37-7131-BD0D-B27D-6ECE3E8E980D}"/>
              </a:ext>
            </a:extLst>
          </p:cNvPr>
          <p:cNvSpPr txBox="1"/>
          <p:nvPr/>
        </p:nvSpPr>
        <p:spPr>
          <a:xfrm>
            <a:off x="533921" y="3180070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the single species case, this becomes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BC3A9-52C4-3267-A712-4AD162EBBC4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The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aEO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 equation without inputs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33">
                <a:extLst>
                  <a:ext uri="{FF2B5EF4-FFF2-40B4-BE49-F238E27FC236}">
                    <a16:creationId xmlns:a16="http://schemas.microsoft.com/office/drawing/2014/main" id="{05C026C2-1ABB-A717-7CE6-6922E5420BB6}"/>
                  </a:ext>
                </a:extLst>
              </p:cNvPr>
              <p:cNvSpPr txBox="1"/>
              <p:nvPr/>
            </p:nvSpPr>
            <p:spPr>
              <a:xfrm>
                <a:off x="3390612" y="3738829"/>
                <a:ext cx="419082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H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CH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𝛼𝛼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GB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fr-CH" sz="3600" dirty="0"/>
              </a:p>
            </p:txBody>
          </p:sp>
        </mc:Choice>
        <mc:Fallback xmlns="">
          <p:sp>
            <p:nvSpPr>
              <p:cNvPr id="11" name="ZoneTexte 33">
                <a:extLst>
                  <a:ext uri="{FF2B5EF4-FFF2-40B4-BE49-F238E27FC236}">
                    <a16:creationId xmlns:a16="http://schemas.microsoft.com/office/drawing/2014/main" id="{05C026C2-1ABB-A717-7CE6-6922E5420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612" y="3738829"/>
                <a:ext cx="4190827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E74F5-7ADF-6534-1775-C33C0C0A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2109-2D5B-47F5-B3D3-81F5B4505EA1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65310-5B6E-50D6-D27B-3A34D63D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C9BD-8A95-6082-7FBA-F5E9607F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18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67236F-0147-2B89-3AFA-4F10AE0155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030" b="13933"/>
          <a:stretch/>
        </p:blipFill>
        <p:spPr>
          <a:xfrm>
            <a:off x="10686409" y="4416297"/>
            <a:ext cx="1342767" cy="1433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235B5D-8F27-CA52-A1CA-2048D03837C0}"/>
              </a:ext>
            </a:extLst>
          </p:cNvPr>
          <p:cNvSpPr txBox="1"/>
          <p:nvPr/>
        </p:nvSpPr>
        <p:spPr>
          <a:xfrm>
            <a:off x="10635871" y="5847830"/>
            <a:ext cx="311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culture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A57F9-4F87-D6A7-617A-6A053AA3F328}"/>
              </a:ext>
            </a:extLst>
          </p:cNvPr>
          <p:cNvSpPr txBox="1"/>
          <p:nvPr/>
        </p:nvSpPr>
        <p:spPr>
          <a:xfrm>
            <a:off x="659688" y="4732847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does this single species intra-specific biotic acceleration behave?</a:t>
            </a:r>
          </a:p>
        </p:txBody>
      </p:sp>
    </p:spTree>
    <p:extLst>
      <p:ext uri="{BB962C8B-B14F-4D97-AF65-F5344CB8AC3E}">
        <p14:creationId xmlns:p14="http://schemas.microsoft.com/office/powerpoint/2010/main" val="236709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6">
            <a:extLst>
              <a:ext uri="{FF2B5EF4-FFF2-40B4-BE49-F238E27FC236}">
                <a16:creationId xmlns:a16="http://schemas.microsoft.com/office/drawing/2014/main" id="{52F2826F-C500-D812-AC34-A6C3E29B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11"/>
          <a:stretch>
            <a:fillRect/>
          </a:stretch>
        </p:blipFill>
        <p:spPr>
          <a:xfrm>
            <a:off x="4014227" y="584775"/>
            <a:ext cx="8030696" cy="48498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0C1C7-8487-33F8-CE11-00289D04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589-E220-43BC-BAC3-4F294C29CBD4}" type="datetime1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4E25C-6A4D-C3D9-8CD2-E82E66A0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4C82F-8968-D148-40F0-DD9C0727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15A019-5AAE-9DAA-25F8-40CC1852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46" y="1791860"/>
            <a:ext cx="3040735" cy="32742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FEE905-2181-56EA-7027-CA3EBD273D51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Illustrating the biotic acceleration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7AB3C2FB-AC3C-2519-86A7-F16611E22486}"/>
              </a:ext>
            </a:extLst>
          </p:cNvPr>
          <p:cNvSpPr txBox="1"/>
          <p:nvPr/>
        </p:nvSpPr>
        <p:spPr>
          <a:xfrm rot="16200000">
            <a:off x="9863134" y="2855819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3EB5A8-500E-79D0-12C8-25660EFDD0CB}"/>
                  </a:ext>
                </a:extLst>
              </p:cNvPr>
              <p:cNvSpPr txBox="1"/>
              <p:nvPr/>
            </p:nvSpPr>
            <p:spPr>
              <a:xfrm>
                <a:off x="5639917" y="5882173"/>
                <a:ext cx="14890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4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3EB5A8-500E-79D0-12C8-25660EFDD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917" y="5882173"/>
                <a:ext cx="1489090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BE28814-84EF-E914-EE73-455EB5A89B29}"/>
              </a:ext>
            </a:extLst>
          </p:cNvPr>
          <p:cNvSpPr txBox="1"/>
          <p:nvPr/>
        </p:nvSpPr>
        <p:spPr>
          <a:xfrm>
            <a:off x="4834453" y="5482063"/>
            <a:ext cx="310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Impact function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58051-4BBF-7B4B-856D-4D56B6B05D92}"/>
                  </a:ext>
                </a:extLst>
              </p:cNvPr>
              <p:cNvSpPr txBox="1"/>
              <p:nvPr/>
            </p:nvSpPr>
            <p:spPr>
              <a:xfrm>
                <a:off x="6995183" y="5811560"/>
                <a:ext cx="58105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58051-4BBF-7B4B-856D-4D56B6B05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83" y="5811560"/>
                <a:ext cx="5810550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890D7C8-03D1-2A6E-3226-229B32363F25}"/>
              </a:ext>
            </a:extLst>
          </p:cNvPr>
          <p:cNvSpPr txBox="1"/>
          <p:nvPr/>
        </p:nvSpPr>
        <p:spPr>
          <a:xfrm>
            <a:off x="8350449" y="5509039"/>
            <a:ext cx="310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Sensitivity function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83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993174CE-BA9C-0287-2226-86FDC305C7BB}"/>
              </a:ext>
            </a:extLst>
          </p:cNvPr>
          <p:cNvSpPr txBox="1"/>
          <p:nvPr/>
        </p:nvSpPr>
        <p:spPr>
          <a:xfrm>
            <a:off x="5939228" y="783226"/>
            <a:ext cx="301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Context-dependence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6BA6C-69F3-BCB7-3EB8-8EF21AAAF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89"/>
          <a:stretch>
            <a:fillRect/>
          </a:stretch>
        </p:blipFill>
        <p:spPr>
          <a:xfrm>
            <a:off x="4447791" y="613351"/>
            <a:ext cx="4822804" cy="47954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551FC5-C109-BFA5-67F4-671349E3771E}"/>
              </a:ext>
            </a:extLst>
          </p:cNvPr>
          <p:cNvCxnSpPr>
            <a:cxnSpLocks/>
          </p:cNvCxnSpPr>
          <p:nvPr/>
        </p:nvCxnSpPr>
        <p:spPr>
          <a:xfrm flipV="1">
            <a:off x="7562850" y="2167798"/>
            <a:ext cx="1707745" cy="375377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517777-F378-B21F-4898-D863360114EE}"/>
              </a:ext>
            </a:extLst>
          </p:cNvPr>
          <p:cNvCxnSpPr>
            <a:cxnSpLocks/>
          </p:cNvCxnSpPr>
          <p:nvPr/>
        </p:nvCxnSpPr>
        <p:spPr>
          <a:xfrm>
            <a:off x="5820697" y="4501385"/>
            <a:ext cx="3449898" cy="5347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25035A-5B7F-EE32-2C3A-5D62289B71A2}"/>
              </a:ext>
            </a:extLst>
          </p:cNvPr>
          <p:cNvSpPr/>
          <p:nvPr/>
        </p:nvSpPr>
        <p:spPr>
          <a:xfrm>
            <a:off x="9518650" y="1543050"/>
            <a:ext cx="1473200" cy="1111250"/>
          </a:xfrm>
          <a:custGeom>
            <a:avLst/>
            <a:gdLst>
              <a:gd name="connsiteX0" fmla="*/ 1428750 w 1473200"/>
              <a:gd name="connsiteY0" fmla="*/ 82550 h 1111250"/>
              <a:gd name="connsiteX1" fmla="*/ 1377950 w 1473200"/>
              <a:gd name="connsiteY1" fmla="*/ 228600 h 1111250"/>
              <a:gd name="connsiteX2" fmla="*/ 1473200 w 1473200"/>
              <a:gd name="connsiteY2" fmla="*/ 527050 h 1111250"/>
              <a:gd name="connsiteX3" fmla="*/ 1123950 w 1473200"/>
              <a:gd name="connsiteY3" fmla="*/ 1066800 h 1111250"/>
              <a:gd name="connsiteX4" fmla="*/ 552450 w 1473200"/>
              <a:gd name="connsiteY4" fmla="*/ 1111250 h 1111250"/>
              <a:gd name="connsiteX5" fmla="*/ 0 w 1473200"/>
              <a:gd name="connsiteY5" fmla="*/ 660400 h 1111250"/>
              <a:gd name="connsiteX6" fmla="*/ 38100 w 1473200"/>
              <a:gd name="connsiteY6" fmla="*/ 171450 h 1111250"/>
              <a:gd name="connsiteX7" fmla="*/ 266700 w 1473200"/>
              <a:gd name="connsiteY7" fmla="*/ 0 h 1111250"/>
              <a:gd name="connsiteX8" fmla="*/ 355600 w 1473200"/>
              <a:gd name="connsiteY8" fmla="*/ 266700 h 1111250"/>
              <a:gd name="connsiteX9" fmla="*/ 889000 w 1473200"/>
              <a:gd name="connsiteY9" fmla="*/ 419100 h 1111250"/>
              <a:gd name="connsiteX10" fmla="*/ 1238250 w 1473200"/>
              <a:gd name="connsiteY10" fmla="*/ 6350 h 1111250"/>
              <a:gd name="connsiteX11" fmla="*/ 1428750 w 1473200"/>
              <a:gd name="connsiteY11" fmla="*/ 8255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3200" h="1111250">
                <a:moveTo>
                  <a:pt x="1428750" y="82550"/>
                </a:moveTo>
                <a:lnTo>
                  <a:pt x="1377950" y="228600"/>
                </a:lnTo>
                <a:lnTo>
                  <a:pt x="1473200" y="527050"/>
                </a:lnTo>
                <a:lnTo>
                  <a:pt x="1123950" y="1066800"/>
                </a:lnTo>
                <a:lnTo>
                  <a:pt x="552450" y="1111250"/>
                </a:lnTo>
                <a:lnTo>
                  <a:pt x="0" y="660400"/>
                </a:lnTo>
                <a:lnTo>
                  <a:pt x="38100" y="171450"/>
                </a:lnTo>
                <a:lnTo>
                  <a:pt x="266700" y="0"/>
                </a:lnTo>
                <a:lnTo>
                  <a:pt x="355600" y="266700"/>
                </a:lnTo>
                <a:lnTo>
                  <a:pt x="889000" y="419100"/>
                </a:lnTo>
                <a:lnTo>
                  <a:pt x="1238250" y="6350"/>
                </a:lnTo>
                <a:lnTo>
                  <a:pt x="1428750" y="82550"/>
                </a:lnTo>
                <a:close/>
              </a:path>
            </a:pathLst>
          </a:cu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5A3FC1-9537-51E2-3609-D3FCAD36D37C}"/>
              </a:ext>
            </a:extLst>
          </p:cNvPr>
          <p:cNvSpPr/>
          <p:nvPr/>
        </p:nvSpPr>
        <p:spPr>
          <a:xfrm>
            <a:off x="9290050" y="3797300"/>
            <a:ext cx="2063750" cy="1860550"/>
          </a:xfrm>
          <a:custGeom>
            <a:avLst/>
            <a:gdLst>
              <a:gd name="connsiteX0" fmla="*/ 1657350 w 2063750"/>
              <a:gd name="connsiteY0" fmla="*/ 228600 h 1860550"/>
              <a:gd name="connsiteX1" fmla="*/ 1600200 w 2063750"/>
              <a:gd name="connsiteY1" fmla="*/ 355600 h 1860550"/>
              <a:gd name="connsiteX2" fmla="*/ 1739900 w 2063750"/>
              <a:gd name="connsiteY2" fmla="*/ 825500 h 1860550"/>
              <a:gd name="connsiteX3" fmla="*/ 1314450 w 2063750"/>
              <a:gd name="connsiteY3" fmla="*/ 1168400 h 1860550"/>
              <a:gd name="connsiteX4" fmla="*/ 635000 w 2063750"/>
              <a:gd name="connsiteY4" fmla="*/ 1225550 h 1860550"/>
              <a:gd name="connsiteX5" fmla="*/ 234950 w 2063750"/>
              <a:gd name="connsiteY5" fmla="*/ 806450 h 1860550"/>
              <a:gd name="connsiteX6" fmla="*/ 228600 w 2063750"/>
              <a:gd name="connsiteY6" fmla="*/ 419100 h 1860550"/>
              <a:gd name="connsiteX7" fmla="*/ 425450 w 2063750"/>
              <a:gd name="connsiteY7" fmla="*/ 165100 h 1860550"/>
              <a:gd name="connsiteX8" fmla="*/ 488950 w 2063750"/>
              <a:gd name="connsiteY8" fmla="*/ 139700 h 1860550"/>
              <a:gd name="connsiteX9" fmla="*/ 463550 w 2063750"/>
              <a:gd name="connsiteY9" fmla="*/ 0 h 1860550"/>
              <a:gd name="connsiteX10" fmla="*/ 0 w 2063750"/>
              <a:gd name="connsiteY10" fmla="*/ 419100 h 1860550"/>
              <a:gd name="connsiteX11" fmla="*/ 63500 w 2063750"/>
              <a:gd name="connsiteY11" fmla="*/ 1365250 h 1860550"/>
              <a:gd name="connsiteX12" fmla="*/ 412750 w 2063750"/>
              <a:gd name="connsiteY12" fmla="*/ 1816100 h 1860550"/>
              <a:gd name="connsiteX13" fmla="*/ 946150 w 2063750"/>
              <a:gd name="connsiteY13" fmla="*/ 1860550 h 1860550"/>
              <a:gd name="connsiteX14" fmla="*/ 1930400 w 2063750"/>
              <a:gd name="connsiteY14" fmla="*/ 1555750 h 1860550"/>
              <a:gd name="connsiteX15" fmla="*/ 2063750 w 2063750"/>
              <a:gd name="connsiteY15" fmla="*/ 469900 h 1860550"/>
              <a:gd name="connsiteX16" fmla="*/ 1993900 w 2063750"/>
              <a:gd name="connsiteY16" fmla="*/ 158750 h 1860550"/>
              <a:gd name="connsiteX17" fmla="*/ 1797050 w 2063750"/>
              <a:gd name="connsiteY17" fmla="*/ 120650 h 1860550"/>
              <a:gd name="connsiteX18" fmla="*/ 1657350 w 2063750"/>
              <a:gd name="connsiteY18" fmla="*/ 22860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063750" h="1860550">
                <a:moveTo>
                  <a:pt x="1657350" y="228600"/>
                </a:moveTo>
                <a:lnTo>
                  <a:pt x="1600200" y="355600"/>
                </a:lnTo>
                <a:lnTo>
                  <a:pt x="1739900" y="825500"/>
                </a:lnTo>
                <a:lnTo>
                  <a:pt x="1314450" y="1168400"/>
                </a:lnTo>
                <a:lnTo>
                  <a:pt x="635000" y="1225550"/>
                </a:lnTo>
                <a:lnTo>
                  <a:pt x="234950" y="806450"/>
                </a:lnTo>
                <a:lnTo>
                  <a:pt x="228600" y="419100"/>
                </a:lnTo>
                <a:lnTo>
                  <a:pt x="425450" y="165100"/>
                </a:lnTo>
                <a:lnTo>
                  <a:pt x="488950" y="139700"/>
                </a:lnTo>
                <a:lnTo>
                  <a:pt x="463550" y="0"/>
                </a:lnTo>
                <a:lnTo>
                  <a:pt x="0" y="419100"/>
                </a:lnTo>
                <a:lnTo>
                  <a:pt x="63500" y="1365250"/>
                </a:lnTo>
                <a:lnTo>
                  <a:pt x="412750" y="1816100"/>
                </a:lnTo>
                <a:lnTo>
                  <a:pt x="946150" y="1860550"/>
                </a:lnTo>
                <a:lnTo>
                  <a:pt x="1930400" y="1555750"/>
                </a:lnTo>
                <a:lnTo>
                  <a:pt x="2063750" y="469900"/>
                </a:lnTo>
                <a:lnTo>
                  <a:pt x="1993900" y="158750"/>
                </a:lnTo>
                <a:lnTo>
                  <a:pt x="1797050" y="120650"/>
                </a:lnTo>
                <a:lnTo>
                  <a:pt x="1657350" y="228600"/>
                </a:lnTo>
                <a:close/>
              </a:path>
            </a:pathLst>
          </a:cu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E867980-ACB1-B7F7-3016-74BC51FE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5866-6637-4D14-8BD7-17A165DF3705}" type="datetime1">
              <a:rPr lang="en-GB" smtClean="0"/>
              <a:t>28/07/2026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6E15B39-FAA6-8FE1-2298-D3FD6651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3732BC-AE7F-9FCE-0057-6B94052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20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3BB18A-C236-1708-1EF0-28F82FB6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46" y="1791860"/>
            <a:ext cx="3040735" cy="32742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8801DB-D6EF-CBFB-EACC-5E9EE4B48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050" y="1014861"/>
            <a:ext cx="1972384" cy="20380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A5B34B-4890-100B-5A0E-05391FC6F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9792" y="3382813"/>
            <a:ext cx="1830916" cy="19321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E55E50-5BE1-56BA-0165-82E63B3B522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Illustrating the biotic acceleration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B7EF9A-78A1-862D-5223-ADD15FB300E8}"/>
                  </a:ext>
                </a:extLst>
              </p:cNvPr>
              <p:cNvSpPr txBox="1"/>
              <p:nvPr/>
            </p:nvSpPr>
            <p:spPr>
              <a:xfrm>
                <a:off x="4089908" y="5837522"/>
                <a:ext cx="58105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𝐴𝐴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sz="2400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CH" sz="24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24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B7EF9A-78A1-862D-5223-ADD15FB30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908" y="5837522"/>
                <a:ext cx="5810550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FEB3C45-E88C-F692-56C1-8BC7F59BCBF9}"/>
              </a:ext>
            </a:extLst>
          </p:cNvPr>
          <p:cNvSpPr txBox="1"/>
          <p:nvPr/>
        </p:nvSpPr>
        <p:spPr>
          <a:xfrm>
            <a:off x="5578998" y="5457795"/>
            <a:ext cx="310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0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C89F81-C8AA-C6F6-0A72-479A88A7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575" y="2076261"/>
            <a:ext cx="1800476" cy="270547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0AC53F0-32BD-AFB6-A223-0CB429C0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60DA-465C-4095-B201-F54638B83A64}" type="datetime1">
              <a:rPr lang="en-GB" smtClean="0"/>
              <a:t>28/07/2026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617827-A661-D8FB-9C6B-F5EB00D7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1057AB-7FF3-A78A-DF81-FCF5A83D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21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A6A61A-06FA-81AB-520B-F314D86B0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46" y="1791860"/>
            <a:ext cx="3040735" cy="32742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A56E0B-1870-198D-480C-AB4D2CC749D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Interaction time-dependencies arise from the changing environment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EF7246-DD67-E0D0-E2ED-08EDAB6E0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551" y="1536130"/>
            <a:ext cx="4623778" cy="4513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6DFF5E-078E-4361-4925-225201DD0E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941" b="83110"/>
          <a:stretch>
            <a:fillRect/>
          </a:stretch>
        </p:blipFill>
        <p:spPr>
          <a:xfrm>
            <a:off x="5588000" y="635483"/>
            <a:ext cx="3606023" cy="96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3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9EF6E-9AF2-B966-FE36-EB6D9D70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E0B0-FD03-4E79-8000-C088C95268D9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AFB63-9E71-3DC0-9276-C0990D20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6D51-66EA-AB89-0054-4D3E320F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48CF0-B206-676E-C14E-19A432A5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17" y="1466490"/>
            <a:ext cx="4679558" cy="459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0F7FC-36BD-056F-0AEC-5D31FDBEEC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17" b="83110"/>
          <a:stretch>
            <a:fillRect/>
          </a:stretch>
        </p:blipFill>
        <p:spPr>
          <a:xfrm>
            <a:off x="5671127" y="635483"/>
            <a:ext cx="3522896" cy="969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1CC90-52C2-894A-9165-82CFB25CF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575" y="2076261"/>
            <a:ext cx="1800476" cy="2705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987F2E-99D4-6BDB-25CE-E75ADF3B3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46" y="1791860"/>
            <a:ext cx="3040735" cy="32742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972B00-54D2-172A-923E-43CB0565F8C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Interaction time-dependencies arise from the changing environment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19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BF7F18-F0A5-DCFA-DE44-17B30017494E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The accelerational viewpoint explains time-dependent interactions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F804B-2734-0E20-961E-2CC0119D8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59" y="3355520"/>
            <a:ext cx="2600688" cy="2505425"/>
          </a:xfrm>
          <a:prstGeom prst="rect">
            <a:avLst/>
          </a:prstGeom>
        </p:spPr>
      </p:pic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E57A7BE6-3EFB-CC25-5E8B-8E93D0829601}"/>
              </a:ext>
            </a:extLst>
          </p:cNvPr>
          <p:cNvCxnSpPr>
            <a:cxnSpLocks/>
          </p:cNvCxnSpPr>
          <p:nvPr/>
        </p:nvCxnSpPr>
        <p:spPr>
          <a:xfrm flipV="1">
            <a:off x="3919458" y="2039307"/>
            <a:ext cx="1623028" cy="2669853"/>
          </a:xfrm>
          <a:prstGeom prst="line">
            <a:avLst/>
          </a:prstGeom>
          <a:ln w="57150">
            <a:solidFill>
              <a:srgbClr val="238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43A919FF-95E8-A07E-5FBD-380D04951A9F}"/>
              </a:ext>
            </a:extLst>
          </p:cNvPr>
          <p:cNvCxnSpPr>
            <a:cxnSpLocks/>
          </p:cNvCxnSpPr>
          <p:nvPr/>
        </p:nvCxnSpPr>
        <p:spPr>
          <a:xfrm>
            <a:off x="4973215" y="4521200"/>
            <a:ext cx="541871" cy="86019"/>
          </a:xfrm>
          <a:prstGeom prst="line">
            <a:avLst/>
          </a:prstGeom>
          <a:ln w="57150">
            <a:solidFill>
              <a:srgbClr val="2171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7">
            <a:extLst>
              <a:ext uri="{FF2B5EF4-FFF2-40B4-BE49-F238E27FC236}">
                <a16:creationId xmlns:a16="http://schemas.microsoft.com/office/drawing/2014/main" id="{E306E5C8-4D58-6BC8-BACF-E66414ADDF17}"/>
              </a:ext>
            </a:extLst>
          </p:cNvPr>
          <p:cNvSpPr txBox="1"/>
          <p:nvPr/>
        </p:nvSpPr>
        <p:spPr>
          <a:xfrm>
            <a:off x="3820940" y="1178552"/>
            <a:ext cx="1844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1" dirty="0">
                <a:solidFill>
                  <a:srgbClr val="000000"/>
                </a:solidFill>
                <a:latin typeface="Calibri" panose="020F0502020204030204"/>
              </a:rPr>
              <a:t>A</a:t>
            </a:r>
            <a:r>
              <a:rPr lang="en-GB" b="1" dirty="0">
                <a:solidFill>
                  <a:srgbClr val="000000"/>
                </a:solidFill>
                <a:latin typeface="Calibri" panose="020F0502020204030204"/>
              </a:rPr>
              <a:t> = </a:t>
            </a:r>
            <a:r>
              <a:rPr lang="en-GB" b="1" i="1" dirty="0" err="1">
                <a:solidFill>
                  <a:srgbClr val="000000"/>
                </a:solidFill>
                <a:latin typeface="Calibri" panose="020F0502020204030204"/>
              </a:rPr>
              <a:t>Comamonas</a:t>
            </a:r>
            <a:r>
              <a:rPr lang="en-GB" b="1" i="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GB" b="1" i="1" dirty="0" err="1">
                <a:solidFill>
                  <a:srgbClr val="000000"/>
                </a:solidFill>
                <a:latin typeface="Calibri" panose="020F0502020204030204"/>
              </a:rPr>
              <a:t>testosteroni</a:t>
            </a:r>
            <a:endParaRPr lang="en-GB" b="1" i="1" dirty="0">
              <a:solidFill>
                <a:srgbClr val="000000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1" dirty="0">
                <a:solidFill>
                  <a:srgbClr val="000000"/>
                </a:solidFill>
                <a:latin typeface="Calibri" panose="020F0502020204030204"/>
              </a:rPr>
              <a:t>n</a:t>
            </a:r>
            <a:r>
              <a:rPr kumimoji="0" lang="en-GB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proline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GB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ampicillin</a:t>
            </a:r>
            <a:r>
              <a:rPr kumimoji="0" lang="en-GB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113A3A-136F-1FFF-D2FF-B479F9627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224" y="3355520"/>
            <a:ext cx="4299391" cy="2881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2AA5EA-56CC-EAD7-0CD7-240362840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61" y="654963"/>
            <a:ext cx="4276153" cy="282474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89B74-048B-D5F7-09E2-965EF506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8E28-394F-4976-A813-FF3A06608AFC}" type="datetime1">
              <a:rPr lang="en-GB" smtClean="0"/>
              <a:t>28/07/2026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65E8033-33F8-AC02-5604-43E4A6A6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2219CE-7680-1E98-7523-14A5FC63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23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3FCF57-59A2-59FB-172C-175CE78B9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080" y="908193"/>
            <a:ext cx="1716640" cy="1848487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7C9E8969-CC12-1E3B-44F5-68F50DE8C147}"/>
              </a:ext>
            </a:extLst>
          </p:cNvPr>
          <p:cNvSpPr txBox="1"/>
          <p:nvPr/>
        </p:nvSpPr>
        <p:spPr>
          <a:xfrm rot="16200000">
            <a:off x="8491232" y="4291023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152047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6B248573-4BBA-C8C5-FC91-4D5DBED54DE4}"/>
              </a:ext>
            </a:extLst>
          </p:cNvPr>
          <p:cNvSpPr txBox="1"/>
          <p:nvPr/>
        </p:nvSpPr>
        <p:spPr>
          <a:xfrm>
            <a:off x="1857915" y="1295747"/>
            <a:ext cx="2280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D73742E-3AB5-1ADD-AA88-D2A85CCA2D65}"/>
              </a:ext>
            </a:extLst>
          </p:cNvPr>
          <p:cNvSpPr txBox="1"/>
          <p:nvPr/>
        </p:nvSpPr>
        <p:spPr>
          <a:xfrm>
            <a:off x="8276257" y="1295747"/>
            <a:ext cx="2280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C075C-D74B-AA54-64EC-C8B4258C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967"/>
            <a:ext cx="12192000" cy="38389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1F4293-415E-5DFB-2B13-6DDF4DF39277}"/>
              </a:ext>
            </a:extLst>
          </p:cNvPr>
          <p:cNvCxnSpPr/>
          <p:nvPr/>
        </p:nvCxnSpPr>
        <p:spPr>
          <a:xfrm>
            <a:off x="6213928" y="1657350"/>
            <a:ext cx="0" cy="312147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3">
            <a:extLst>
              <a:ext uri="{FF2B5EF4-FFF2-40B4-BE49-F238E27FC236}">
                <a16:creationId xmlns:a16="http://schemas.microsoft.com/office/drawing/2014/main" id="{1DE9998A-9414-B8C5-D1C6-8D03CDF0C666}"/>
              </a:ext>
            </a:extLst>
          </p:cNvPr>
          <p:cNvSpPr txBox="1"/>
          <p:nvPr/>
        </p:nvSpPr>
        <p:spPr>
          <a:xfrm>
            <a:off x="6213928" y="5697506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(2025) Eco. Letts.</a:t>
            </a:r>
            <a:endParaRPr lang="en-GB" sz="1400" b="1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AEC1DB-6BC8-8481-179C-3EE64C4A5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965-50F0-4CA1-8C49-B7B03E9342C7}" type="datetime1">
              <a:rPr lang="en-GB" smtClean="0"/>
              <a:t>28/07/2026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13056D-99D4-F9BD-F50A-A9EC5466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D3D800-1887-C42F-AD5E-615B969E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24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39733C-980B-4F3F-535C-038E417A677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The accelerational viewpoint explains time-dependent interactions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65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53861-BEBA-379F-CB24-2A64F001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709E-6AD9-4CC0-B095-2B579FE20CD1}" type="datetime1">
              <a:rPr lang="en-GB" smtClean="0"/>
              <a:t>28/07/2026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7C2E7-FF63-CA0C-30AC-7A240DC0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Accelerations in microbial ecosystems</a:t>
            </a: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5F54D-8E8F-949A-9D69-8660B8E0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25</a:t>
            </a:fld>
            <a:endParaRPr lang="fr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8E696-8951-7460-04B9-548ECE85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23" y="3310572"/>
            <a:ext cx="4867954" cy="2410161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E0B6A33-EAC1-24F7-CE52-BDFBB93A8F2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Comparing temporal and spatial interaction dependencies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7B43D-DB99-6107-2457-C1F7A60A7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4775"/>
            <a:ext cx="5410955" cy="5410955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B4606C2-677C-4A8F-25C0-F774F8BBC9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" t="2106" r="2260" b="61522"/>
          <a:stretch/>
        </p:blipFill>
        <p:spPr>
          <a:xfrm>
            <a:off x="1279860" y="980927"/>
            <a:ext cx="413109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4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923EBA-42AC-70E4-86A1-53A52446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5ABDF-40FA-4235-A2D7-BAA428BA4DFB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A044D-2783-4353-93E1-3BA321C8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3214D-B53D-896B-0F35-A777E0D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10E88-DA0E-137B-D239-01F6212C0A72}"/>
              </a:ext>
            </a:extLst>
          </p:cNvPr>
          <p:cNvSpPr txBox="1"/>
          <p:nvPr/>
        </p:nvSpPr>
        <p:spPr>
          <a:xfrm>
            <a:off x="0" y="2844225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2: Why are microbial mutualisms stable?</a:t>
            </a:r>
          </a:p>
        </p:txBody>
      </p:sp>
    </p:spTree>
    <p:extLst>
      <p:ext uri="{BB962C8B-B14F-4D97-AF65-F5344CB8AC3E}">
        <p14:creationId xmlns:p14="http://schemas.microsoft.com/office/powerpoint/2010/main" val="2400221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38471-9A58-0979-7D90-71A1C315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B106-00EA-4D3F-8A44-C22C83B20820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FCBD0-0A50-8792-9288-A63708C1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2D38F-A3E4-9C95-AF13-8EFD0417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F49B1-85D7-E62B-0A6A-5CCEF22BC45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Mutualistic mechanisms in macroscopic ecosystems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Mutualism Butterfly And Flower">
            <a:extLst>
              <a:ext uri="{FF2B5EF4-FFF2-40B4-BE49-F238E27FC236}">
                <a16:creationId xmlns:a16="http://schemas.microsoft.com/office/drawing/2014/main" id="{E4BE7554-F037-D9E2-57F8-527877302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5" y="666892"/>
            <a:ext cx="4822805" cy="321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ymbiosis – AZScubaCat.com">
            <a:extLst>
              <a:ext uri="{FF2B5EF4-FFF2-40B4-BE49-F238E27FC236}">
                <a16:creationId xmlns:a16="http://schemas.microsoft.com/office/drawing/2014/main" id="{F12AE3D8-4C5D-5ABE-1EC3-3D462E28D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670" y="3291700"/>
            <a:ext cx="4052457" cy="289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utualism Animals Mutualism | Definition, Ecosystem &amp; Examples">
            <a:extLst>
              <a:ext uri="{FF2B5EF4-FFF2-40B4-BE49-F238E27FC236}">
                <a16:creationId xmlns:a16="http://schemas.microsoft.com/office/drawing/2014/main" id="{BC766224-6931-9269-8D87-3FBF577B9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5" y="4082034"/>
            <a:ext cx="3876964" cy="218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sh: Female cleaner wrasse cheat when male partner is out of view ...">
            <a:extLst>
              <a:ext uri="{FF2B5EF4-FFF2-40B4-BE49-F238E27FC236}">
                <a16:creationId xmlns:a16="http://schemas.microsoft.com/office/drawing/2014/main" id="{7DA5935E-A36E-2FDA-BB6C-0F1A916FA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665" y="791897"/>
            <a:ext cx="3532634" cy="234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cientists explore how fungi help plants grow in South America ...">
            <a:extLst>
              <a:ext uri="{FF2B5EF4-FFF2-40B4-BE49-F238E27FC236}">
                <a16:creationId xmlns:a16="http://schemas.microsoft.com/office/drawing/2014/main" id="{EB76D83F-9D8E-11D9-855A-865C7902E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782" y="3610936"/>
            <a:ext cx="3389745" cy="226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utualism Ants And Aphids Ant Aphids Symbiosis Mutualism Red Carpenter">
            <a:extLst>
              <a:ext uri="{FF2B5EF4-FFF2-40B4-BE49-F238E27FC236}">
                <a16:creationId xmlns:a16="http://schemas.microsoft.com/office/drawing/2014/main" id="{2201CEC4-2808-20D4-E6D9-923D9270A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878" y="656634"/>
            <a:ext cx="3134447" cy="248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885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198F-1C82-2CEF-35FA-04C2FF74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06FEA-B1ED-F5F4-AAB7-940AF7D04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A005-1322-41CD-85EB-A8A3C54033DD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52251-E554-A0A0-E677-C4747CEE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D224C-027E-E627-EBE9-1611500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5095C-6680-EA65-4F02-AFB33C00257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Mutualistic blowup and instability of cooperative communities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7BD94CA-E8B5-1559-BB25-127FA3D3C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64" b="53889"/>
          <a:stretch/>
        </p:blipFill>
        <p:spPr bwMode="auto">
          <a:xfrm>
            <a:off x="6237588" y="1471851"/>
            <a:ext cx="2758358" cy="181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D8CE0E-C1BC-6F34-7B43-E019514E096A}"/>
              </a:ext>
            </a:extLst>
          </p:cNvPr>
          <p:cNvSpPr/>
          <p:nvPr/>
        </p:nvSpPr>
        <p:spPr>
          <a:xfrm>
            <a:off x="6238787" y="1424465"/>
            <a:ext cx="170752" cy="332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F0D0562-E995-A777-DDD5-3CFCB57131B2}"/>
              </a:ext>
            </a:extLst>
          </p:cNvPr>
          <p:cNvSpPr txBox="1"/>
          <p:nvPr/>
        </p:nvSpPr>
        <p:spPr>
          <a:xfrm>
            <a:off x="6096000" y="5437446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Coyte et al. (2015) </a:t>
            </a:r>
            <a:r>
              <a:rPr lang="en-GB" sz="1200" b="1" i="1" dirty="0">
                <a:latin typeface="Arial Nova" panose="020B0504020202020204" pitchFamily="34" charset="0"/>
              </a:rPr>
              <a:t>Science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0C6950C0-9088-13D9-DBCF-22C8D9CA88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1" t="7275" r="32569" b="52255"/>
          <a:stretch/>
        </p:blipFill>
        <p:spPr bwMode="auto">
          <a:xfrm>
            <a:off x="9412503" y="1437341"/>
            <a:ext cx="1759482" cy="16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C45D681-15DA-E436-BB15-61AA0107E603}"/>
              </a:ext>
            </a:extLst>
          </p:cNvPr>
          <p:cNvSpPr/>
          <p:nvPr/>
        </p:nvSpPr>
        <p:spPr>
          <a:xfrm>
            <a:off x="10342904" y="2845644"/>
            <a:ext cx="239457" cy="266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9D9C0A5F-C62B-08EF-E416-0D4E7D3FB437}"/>
              </a:ext>
            </a:extLst>
          </p:cNvPr>
          <p:cNvSpPr txBox="1"/>
          <p:nvPr/>
        </p:nvSpPr>
        <p:spPr>
          <a:xfrm>
            <a:off x="9675387" y="2845644"/>
            <a:ext cx="156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Arial Nova" panose="020B0504020202020204" pitchFamily="34" charset="0"/>
              </a:rPr>
              <a:t>Fraction of cooperative interactions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513E8-6A65-831C-B831-428F15E40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687" y="3583267"/>
            <a:ext cx="5340313" cy="18541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88B33C-BF7D-C760-5EFA-B87650190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395" y="1173934"/>
            <a:ext cx="4879308" cy="3100702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0224B2B2-310E-D451-7F80-64984A611340}"/>
              </a:ext>
            </a:extLst>
          </p:cNvPr>
          <p:cNvSpPr txBox="1"/>
          <p:nvPr/>
        </p:nvSpPr>
        <p:spPr>
          <a:xfrm>
            <a:off x="463607" y="5613781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Gause and Witt (1935) </a:t>
            </a:r>
            <a:r>
              <a:rPr lang="en-GB" sz="1200" b="1" i="1" dirty="0">
                <a:latin typeface="Arial Nova" panose="020B0504020202020204" pitchFamily="34" charset="0"/>
              </a:rPr>
              <a:t>Am. Nat.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4ACC5-669A-D061-912E-019D0A174FDB}"/>
              </a:ext>
            </a:extLst>
          </p:cNvPr>
          <p:cNvSpPr txBox="1"/>
          <p:nvPr/>
        </p:nvSpPr>
        <p:spPr>
          <a:xfrm>
            <a:off x="463607" y="4320870"/>
            <a:ext cx="49640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sz="1600" i="1" dirty="0">
                <a:latin typeface="Arial" panose="020B0604020202020204" pitchFamily="34" charset="0"/>
                <a:cs typeface="Arial" panose="020B0604020202020204" pitchFamily="34" charset="0"/>
              </a:rPr>
              <a:t>It is evident that in a limited microcosm we can not expect infinite populations, and certain observations indicate that the coefficient of mutual aid can considerably decrease in the course of growth of the culture.’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0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AE195-4476-B4A2-A884-5527B68A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58A1E-8A6B-D6C0-6FE2-A2BDD1B2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6CCA-2636-4860-9DC0-6921AE448517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44E7E-0C74-7263-236A-83B494CC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AA9C4-304F-EA60-EE65-3089CF05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29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74A28-DCF0-185D-FC0C-4B232449D6B7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Microbial mutualisms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Widespread microbial cross-feeding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B688AB-83DD-51EB-E867-BB043C963030}"/>
              </a:ext>
            </a:extLst>
          </p:cNvPr>
          <p:cNvGrpSpPr/>
          <p:nvPr/>
        </p:nvGrpSpPr>
        <p:grpSpPr>
          <a:xfrm>
            <a:off x="239701" y="925974"/>
            <a:ext cx="11712597" cy="4349549"/>
            <a:chOff x="5923863" y="3861327"/>
            <a:chExt cx="6145841" cy="228229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6711B1-F11B-6DA2-6359-681A16ECA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051870" y="2756060"/>
              <a:ext cx="715332" cy="292586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D642F1B-9DCF-DF8D-3705-A5FE57D51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10210366" y="2813726"/>
              <a:ext cx="486888" cy="305564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3D2D7D1-FA67-ED59-2524-670780F73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21599" y="4726455"/>
              <a:ext cx="3148105" cy="141717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20DEE1-4905-058B-3ACD-302C071F8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3863" y="4765772"/>
              <a:ext cx="2992887" cy="1314444"/>
            </a:xfrm>
            <a:prstGeom prst="rect">
              <a:avLst/>
            </a:prstGeom>
          </p:spPr>
        </p:pic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3D91FBC2-9A74-4D4C-FE9A-6436E6F846A8}"/>
              </a:ext>
            </a:extLst>
          </p:cNvPr>
          <p:cNvSpPr txBox="1"/>
          <p:nvPr/>
        </p:nvSpPr>
        <p:spPr>
          <a:xfrm>
            <a:off x="239701" y="5275523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Kost et al. (2023) </a:t>
            </a:r>
            <a:r>
              <a:rPr lang="en-GB" sz="1200" b="1" i="1" dirty="0">
                <a:latin typeface="Arial Nova" panose="020B0504020202020204" pitchFamily="34" charset="0"/>
              </a:rPr>
              <a:t>Nat. </a:t>
            </a:r>
            <a:r>
              <a:rPr lang="en-GB" sz="1200" b="1" i="1" dirty="0" err="1">
                <a:latin typeface="Arial Nova" panose="020B0504020202020204" pitchFamily="34" charset="0"/>
              </a:rPr>
              <a:t>Microbiol</a:t>
            </a:r>
            <a:r>
              <a:rPr lang="en-GB" sz="1200" b="1" i="1" dirty="0">
                <a:latin typeface="Arial Nova" panose="020B0504020202020204" pitchFamily="34" charset="0"/>
              </a:rPr>
              <a:t>.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587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E6707-5ACF-CFE6-54B5-35295065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349-9CE6-4E54-8F56-5407540CD1DD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AE8ED-9FE7-4322-3E41-C7FB747E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07735-E518-D84E-5D50-54A7A205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91F6F-E295-BD29-1FA1-DDB6744C326C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Recipes for stabilising mutualisms in phenomenological models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D91A79-73AA-3620-4A5F-B011C9B0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711" y="687221"/>
            <a:ext cx="7898578" cy="5248340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DEE90F6A-6999-C19B-1C6C-052AB5CEA2EF}"/>
              </a:ext>
            </a:extLst>
          </p:cNvPr>
          <p:cNvSpPr txBox="1"/>
          <p:nvPr/>
        </p:nvSpPr>
        <p:spPr>
          <a:xfrm>
            <a:off x="8115450" y="5893780"/>
            <a:ext cx="2313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Holland et al. (2002), Am. Nat.</a:t>
            </a:r>
          </a:p>
        </p:txBody>
      </p:sp>
    </p:spTree>
    <p:extLst>
      <p:ext uri="{BB962C8B-B14F-4D97-AF65-F5344CB8AC3E}">
        <p14:creationId xmlns:p14="http://schemas.microsoft.com/office/powerpoint/2010/main" val="3647876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88356-1FD4-9A5A-4BCA-D0EF69B6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DC33-37DF-4858-8871-2AABA14AD4FD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04E35-0F07-F2F0-1D74-8E7E8156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08DB-5861-C96A-9782-438FABDB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D3BEA-804E-5514-1FB7-FB31D85B20C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A model cross-feeding mutualism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6F2A8-B5FD-55AD-3EDD-F7FFB7A72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0" y="1473264"/>
            <a:ext cx="7356514" cy="39114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AAD1FE-8019-52D7-62C2-3534EF010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294" y="522414"/>
            <a:ext cx="3662322" cy="2921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719AC-463A-56B7-0924-80B62D911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45" y="3443906"/>
            <a:ext cx="1985820" cy="28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292F3-7B29-07FA-0E8C-E85C021C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F4F1-4160-4642-B1C5-A6AE78ABE1E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96E97-9536-EABF-E925-B7570B3F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44996-D431-2753-4CB7-9C2B07CF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8EE63F92-ABEB-8D37-5F27-AF53CBF357E3}"/>
                  </a:ext>
                </a:extLst>
              </p:cNvPr>
              <p:cNvSpPr txBox="1"/>
              <p:nvPr/>
            </p:nvSpPr>
            <p:spPr>
              <a:xfrm>
                <a:off x="3431617" y="211510"/>
                <a:ext cx="5328766" cy="964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fr-CH" sz="3600" dirty="0"/>
              </a:p>
            </p:txBody>
          </p:sp>
        </mc:Choice>
        <mc:Fallback xmlns="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8EE63F92-ABEB-8D37-5F27-AF53CBF3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617" y="211510"/>
                <a:ext cx="5328766" cy="964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2E08E50-8A57-0CB1-A3DC-7F962EE10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70" y="1681525"/>
            <a:ext cx="8415975" cy="4513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39F6B3-6C6F-631E-AC4D-68BCB99CC316}"/>
                  </a:ext>
                </a:extLst>
              </p:cNvPr>
              <p:cNvSpPr txBox="1"/>
              <p:nvPr/>
            </p:nvSpPr>
            <p:spPr>
              <a:xfrm>
                <a:off x="2174054" y="1295911"/>
                <a:ext cx="2649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39F6B3-6C6F-631E-AC4D-68BCB99CC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054" y="1295911"/>
                <a:ext cx="264927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1AB40-32AA-A122-9484-D5556F080B30}"/>
                  </a:ext>
                </a:extLst>
              </p:cNvPr>
              <p:cNvSpPr txBox="1"/>
              <p:nvPr/>
            </p:nvSpPr>
            <p:spPr>
              <a:xfrm>
                <a:off x="6284689" y="1352304"/>
                <a:ext cx="2858849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GB" i="1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 smtClean="0">
                              <a:solidFill>
                                <a:srgbClr val="B90E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1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i="1">
                          <a:solidFill>
                            <a:srgbClr val="B90E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CH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CH" sz="1800" i="1" smtClean="0">
                              <a:solidFill>
                                <a:srgbClr val="0298C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GB" sz="1800" b="0" i="1" smtClean="0">
                          <a:solidFill>
                            <a:srgbClr val="0298C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1AB40-32AA-A122-9484-D5556F080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689" y="1352304"/>
                <a:ext cx="2858849" cy="39408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60420D5-21D4-A700-60CC-9BBB1B17B51C}"/>
              </a:ext>
            </a:extLst>
          </p:cNvPr>
          <p:cNvSpPr txBox="1"/>
          <p:nvPr/>
        </p:nvSpPr>
        <p:spPr>
          <a:xfrm>
            <a:off x="193767" y="3152358"/>
            <a:ext cx="1807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5D37F-8844-414A-4721-17F51D7D2BC8}"/>
              </a:ext>
            </a:extLst>
          </p:cNvPr>
          <p:cNvSpPr txBox="1"/>
          <p:nvPr/>
        </p:nvSpPr>
        <p:spPr>
          <a:xfrm>
            <a:off x="10118271" y="3152358"/>
            <a:ext cx="207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23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9F3F-97B2-B251-CDF2-F373292F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B966714A-5922-DB4A-BA71-702958374BC6}"/>
                  </a:ext>
                </a:extLst>
              </p:cNvPr>
              <p:cNvSpPr txBox="1"/>
              <p:nvPr/>
            </p:nvSpPr>
            <p:spPr>
              <a:xfrm>
                <a:off x="2802983" y="1941949"/>
                <a:ext cx="5328766" cy="964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CH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fr-CH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fr-CH" sz="3600" dirty="0"/>
              </a:p>
            </p:txBody>
          </p:sp>
        </mc:Choice>
        <mc:Fallback xmlns="">
          <p:sp>
            <p:nvSpPr>
              <p:cNvPr id="5" name="ZoneTexte 33">
                <a:extLst>
                  <a:ext uri="{FF2B5EF4-FFF2-40B4-BE49-F238E27FC236}">
                    <a16:creationId xmlns:a16="http://schemas.microsoft.com/office/drawing/2014/main" id="{B966714A-5922-DB4A-BA71-702958374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83" y="1941949"/>
                <a:ext cx="5328766" cy="964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E0E1CCD-2320-95DF-2E1B-882C31E26768}"/>
              </a:ext>
            </a:extLst>
          </p:cNvPr>
          <p:cNvSpPr txBox="1"/>
          <p:nvPr/>
        </p:nvSpPr>
        <p:spPr>
          <a:xfrm>
            <a:off x="533921" y="1220323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equilibrium systems, growth accelerations are equal to zero.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D5A149-EA98-16C8-1686-7CC3C834D075}"/>
              </a:ext>
            </a:extLst>
          </p:cNvPr>
          <p:cNvCxnSpPr>
            <a:cxnSpLocks/>
          </p:cNvCxnSpPr>
          <p:nvPr/>
        </p:nvCxnSpPr>
        <p:spPr>
          <a:xfrm flipH="1">
            <a:off x="3076585" y="2051072"/>
            <a:ext cx="1219200" cy="8497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353F7C-E16A-36FB-C45C-7C03C930CDDF}"/>
              </a:ext>
            </a:extLst>
          </p:cNvPr>
          <p:cNvSpPr txBox="1"/>
          <p:nvPr/>
        </p:nvSpPr>
        <p:spPr>
          <a:xfrm>
            <a:off x="2751129" y="2779960"/>
            <a:ext cx="295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5FD49-8243-82EB-86DA-AD36AEB66EB1}"/>
              </a:ext>
            </a:extLst>
          </p:cNvPr>
          <p:cNvSpPr txBox="1"/>
          <p:nvPr/>
        </p:nvSpPr>
        <p:spPr>
          <a:xfrm>
            <a:off x="533921" y="3180070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Thus, 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B71B4-3557-7DB3-C3E5-7495244D4531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The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aEO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 equation at equilibrium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33">
                <a:extLst>
                  <a:ext uri="{FF2B5EF4-FFF2-40B4-BE49-F238E27FC236}">
                    <a16:creationId xmlns:a16="http://schemas.microsoft.com/office/drawing/2014/main" id="{6D5A235F-CFED-AF1D-286F-999145E02E16}"/>
                  </a:ext>
                </a:extLst>
              </p:cNvPr>
              <p:cNvSpPr txBox="1"/>
              <p:nvPr/>
            </p:nvSpPr>
            <p:spPr>
              <a:xfrm>
                <a:off x="3535362" y="3781709"/>
                <a:ext cx="3623749" cy="941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CH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sSubSup>
                        <m:sSubSup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11" name="ZoneTexte 33">
                <a:extLst>
                  <a:ext uri="{FF2B5EF4-FFF2-40B4-BE49-F238E27FC236}">
                    <a16:creationId xmlns:a16="http://schemas.microsoft.com/office/drawing/2014/main" id="{6D5A235F-CFED-AF1D-286F-999145E02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362" y="3781709"/>
                <a:ext cx="3623749" cy="941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896FF-D7B4-2FE3-5EF2-2C055C26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997E2-7E36-481C-B722-141B322FA80F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C96B0-67E8-1850-30F3-5DE65942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AC823-BDC0-F428-DA20-F9BA5ED3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33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EA5F2-D447-3487-0999-96702C4E7533}"/>
              </a:ext>
            </a:extLst>
          </p:cNvPr>
          <p:cNvSpPr txBox="1"/>
          <p:nvPr/>
        </p:nvSpPr>
        <p:spPr>
          <a:xfrm>
            <a:off x="10635871" y="5847830"/>
            <a:ext cx="311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Chemostat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377799-AC4D-DD6B-702E-85423CFD0879}"/>
              </a:ext>
            </a:extLst>
          </p:cNvPr>
          <p:cNvSpPr txBox="1"/>
          <p:nvPr/>
        </p:nvSpPr>
        <p:spPr>
          <a:xfrm>
            <a:off x="641216" y="5168468"/>
            <a:ext cx="1112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do these effective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gLV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parameters behave as we vary mutualistic mechanisms?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F6FF0F-0EA4-131C-0E28-05595E8A9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744" y="4787130"/>
            <a:ext cx="1943477" cy="1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84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6C4CC-658B-79DB-894C-3A3426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43EFB-E345-48DC-977F-44EE10D44D4F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1F9E5-0313-8F62-66A7-74DE6A10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C0EF1-A3F5-46E2-CFF1-05DD01F5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32FF3-1D62-7BD7-2768-C90F3773CDF7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When cooperation isn’t cooperative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03656-0B99-C547-E1D9-AD84B9A8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13" t="29858"/>
          <a:stretch>
            <a:fillRect/>
          </a:stretch>
        </p:blipFill>
        <p:spPr>
          <a:xfrm>
            <a:off x="8429626" y="1768342"/>
            <a:ext cx="3376700" cy="37843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B95C9E7-7D9F-2CB5-07C6-B5439EC82717}"/>
              </a:ext>
            </a:extLst>
          </p:cNvPr>
          <p:cNvSpPr/>
          <p:nvPr/>
        </p:nvSpPr>
        <p:spPr>
          <a:xfrm>
            <a:off x="3686185" y="2053052"/>
            <a:ext cx="508000" cy="523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8A214-D738-66FF-B753-3ACC9EB643ED}"/>
              </a:ext>
            </a:extLst>
          </p:cNvPr>
          <p:cNvSpPr/>
          <p:nvPr/>
        </p:nvSpPr>
        <p:spPr>
          <a:xfrm>
            <a:off x="8559120" y="731400"/>
            <a:ext cx="982044" cy="2351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9D9637-09E3-D849-3DC6-9B8E19C29731}"/>
              </a:ext>
            </a:extLst>
          </p:cNvPr>
          <p:cNvSpPr txBox="1"/>
          <p:nvPr/>
        </p:nvSpPr>
        <p:spPr>
          <a:xfrm>
            <a:off x="8704660" y="5152545"/>
            <a:ext cx="31016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Amino acid secretion 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58816-91B9-224A-4E6C-C0737827639A}"/>
              </a:ext>
            </a:extLst>
          </p:cNvPr>
          <p:cNvSpPr txBox="1"/>
          <p:nvPr/>
        </p:nvSpPr>
        <p:spPr>
          <a:xfrm>
            <a:off x="4664765" y="5152545"/>
            <a:ext cx="31016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Amino acid secretion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601246-0D92-42BD-1924-92065E2135D7}"/>
              </a:ext>
            </a:extLst>
          </p:cNvPr>
          <p:cNvSpPr txBox="1"/>
          <p:nvPr/>
        </p:nvSpPr>
        <p:spPr>
          <a:xfrm rot="16200000">
            <a:off x="3516869" y="2576179"/>
            <a:ext cx="158790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C545D7-F83D-DC44-F8E8-B5445B4BE89C}"/>
              </a:ext>
            </a:extLst>
          </p:cNvPr>
          <p:cNvSpPr txBox="1"/>
          <p:nvPr/>
        </p:nvSpPr>
        <p:spPr>
          <a:xfrm rot="16200000">
            <a:off x="3516869" y="4084368"/>
            <a:ext cx="158790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Abiotic acceleration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6EF237-6ABF-A1AC-1097-DD42C9ACC232}"/>
              </a:ext>
            </a:extLst>
          </p:cNvPr>
          <p:cNvCxnSpPr>
            <a:cxnSpLocks/>
          </p:cNvCxnSpPr>
          <p:nvPr/>
        </p:nvCxnSpPr>
        <p:spPr>
          <a:xfrm flipV="1">
            <a:off x="5098473" y="3724076"/>
            <a:ext cx="0" cy="13599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CE922C-08B8-5F5F-0309-CF287D3791D6}"/>
              </a:ext>
            </a:extLst>
          </p:cNvPr>
          <p:cNvCxnSpPr>
            <a:cxnSpLocks/>
          </p:cNvCxnSpPr>
          <p:nvPr/>
        </p:nvCxnSpPr>
        <p:spPr>
          <a:xfrm>
            <a:off x="5098473" y="4414982"/>
            <a:ext cx="26232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7">
            <a:extLst>
              <a:ext uri="{FF2B5EF4-FFF2-40B4-BE49-F238E27FC236}">
                <a16:creationId xmlns:a16="http://schemas.microsoft.com/office/drawing/2014/main" id="{9A9729E4-FF79-04BB-40D9-2C93E9093135}"/>
              </a:ext>
            </a:extLst>
          </p:cNvPr>
          <p:cNvSpPr txBox="1"/>
          <p:nvPr/>
        </p:nvSpPr>
        <p:spPr>
          <a:xfrm>
            <a:off x="4822814" y="923480"/>
            <a:ext cx="3174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Naïve e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xpectation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8EB25FB7-8FED-364C-4FDA-F780876B4434}"/>
              </a:ext>
            </a:extLst>
          </p:cNvPr>
          <p:cNvSpPr txBox="1"/>
          <p:nvPr/>
        </p:nvSpPr>
        <p:spPr>
          <a:xfrm>
            <a:off x="9050142" y="966566"/>
            <a:ext cx="2280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Observed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46BBC8B5-71D3-C84C-1DA9-C2F351A0DE9D}"/>
              </a:ext>
            </a:extLst>
          </p:cNvPr>
          <p:cNvSpPr txBox="1"/>
          <p:nvPr/>
        </p:nvSpPr>
        <p:spPr>
          <a:xfrm>
            <a:off x="4804005" y="4204016"/>
            <a:ext cx="28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47A2B5-E9C9-AA43-B766-1AE967989A16}"/>
              </a:ext>
            </a:extLst>
          </p:cNvPr>
          <p:cNvCxnSpPr>
            <a:cxnSpLocks/>
          </p:cNvCxnSpPr>
          <p:nvPr/>
        </p:nvCxnSpPr>
        <p:spPr>
          <a:xfrm flipV="1">
            <a:off x="5112023" y="2195082"/>
            <a:ext cx="0" cy="13599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BA924A-08CE-8564-A808-512197D879C4}"/>
              </a:ext>
            </a:extLst>
          </p:cNvPr>
          <p:cNvCxnSpPr>
            <a:cxnSpLocks/>
          </p:cNvCxnSpPr>
          <p:nvPr/>
        </p:nvCxnSpPr>
        <p:spPr>
          <a:xfrm>
            <a:off x="5112023" y="2885988"/>
            <a:ext cx="26232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7">
            <a:extLst>
              <a:ext uri="{FF2B5EF4-FFF2-40B4-BE49-F238E27FC236}">
                <a16:creationId xmlns:a16="http://schemas.microsoft.com/office/drawing/2014/main" id="{2A8090B8-EEC4-664E-2A0D-3F128B7FB5D0}"/>
              </a:ext>
            </a:extLst>
          </p:cNvPr>
          <p:cNvSpPr txBox="1"/>
          <p:nvPr/>
        </p:nvSpPr>
        <p:spPr>
          <a:xfrm>
            <a:off x="4817555" y="2675022"/>
            <a:ext cx="28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B22BF23-2522-62BE-AC64-78467EF73DAB}"/>
              </a:ext>
            </a:extLst>
          </p:cNvPr>
          <p:cNvSpPr/>
          <p:nvPr/>
        </p:nvSpPr>
        <p:spPr>
          <a:xfrm>
            <a:off x="5250730" y="2328421"/>
            <a:ext cx="2300140" cy="1187777"/>
          </a:xfrm>
          <a:custGeom>
            <a:avLst/>
            <a:gdLst>
              <a:gd name="csX0" fmla="*/ 0 w 2300140"/>
              <a:gd name="csY0" fmla="*/ 1187777 h 1187777"/>
              <a:gd name="csX1" fmla="*/ 999241 w 2300140"/>
              <a:gd name="csY1" fmla="*/ 348791 h 1187777"/>
              <a:gd name="csX2" fmla="*/ 2300140 w 2300140"/>
              <a:gd name="csY2" fmla="*/ 0 h 1187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00140" h="1187777">
                <a:moveTo>
                  <a:pt x="0" y="1187777"/>
                </a:moveTo>
                <a:cubicBezTo>
                  <a:pt x="307942" y="867265"/>
                  <a:pt x="615884" y="546754"/>
                  <a:pt x="999241" y="348791"/>
                </a:cubicBezTo>
                <a:cubicBezTo>
                  <a:pt x="1382598" y="150828"/>
                  <a:pt x="1841369" y="75414"/>
                  <a:pt x="2300140" y="0"/>
                </a:cubicBezTo>
              </a:path>
            </a:pathLst>
          </a:cu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63A7DF7-341F-E342-A69C-6BB8ED5CA23D}"/>
              </a:ext>
            </a:extLst>
          </p:cNvPr>
          <p:cNvSpPr/>
          <p:nvPr/>
        </p:nvSpPr>
        <p:spPr>
          <a:xfrm>
            <a:off x="5222449" y="3789575"/>
            <a:ext cx="2309567" cy="1168924"/>
          </a:xfrm>
          <a:custGeom>
            <a:avLst/>
            <a:gdLst>
              <a:gd name="csX0" fmla="*/ 0 w 2309567"/>
              <a:gd name="csY0" fmla="*/ 0 h 1168924"/>
              <a:gd name="csX1" fmla="*/ 754145 w 2309567"/>
              <a:gd name="csY1" fmla="*/ 772998 h 1168924"/>
              <a:gd name="csX2" fmla="*/ 2309567 w 2309567"/>
              <a:gd name="csY2" fmla="*/ 1168924 h 1168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09567" h="1168924">
                <a:moveTo>
                  <a:pt x="0" y="0"/>
                </a:moveTo>
                <a:cubicBezTo>
                  <a:pt x="184608" y="289088"/>
                  <a:pt x="369217" y="578177"/>
                  <a:pt x="754145" y="772998"/>
                </a:cubicBezTo>
                <a:cubicBezTo>
                  <a:pt x="1139073" y="967819"/>
                  <a:pt x="1724320" y="1068371"/>
                  <a:pt x="2309567" y="1168924"/>
                </a:cubicBezTo>
              </a:path>
            </a:pathLst>
          </a:cu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0DD665-B13D-72E6-88E7-E1BB1D205040}"/>
              </a:ext>
            </a:extLst>
          </p:cNvPr>
          <p:cNvSpPr/>
          <p:nvPr/>
        </p:nvSpPr>
        <p:spPr>
          <a:xfrm>
            <a:off x="8307264" y="1538961"/>
            <a:ext cx="3570509" cy="218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22062B-FD49-C738-8609-69D7C1AA1175}"/>
              </a:ext>
            </a:extLst>
          </p:cNvPr>
          <p:cNvSpPr/>
          <p:nvPr/>
        </p:nvSpPr>
        <p:spPr>
          <a:xfrm>
            <a:off x="8294690" y="3586813"/>
            <a:ext cx="3570509" cy="218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E051D3-EE9B-DEED-6C0D-834CE050CC5C}"/>
              </a:ext>
            </a:extLst>
          </p:cNvPr>
          <p:cNvSpPr txBox="1"/>
          <p:nvPr/>
        </p:nvSpPr>
        <p:spPr>
          <a:xfrm>
            <a:off x="5598078" y="2939338"/>
            <a:ext cx="208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(homologous to interaction strengths)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7FE852-8B6B-EE3A-3914-0E0E16769EB8}"/>
              </a:ext>
            </a:extLst>
          </p:cNvPr>
          <p:cNvSpPr txBox="1"/>
          <p:nvPr/>
        </p:nvSpPr>
        <p:spPr>
          <a:xfrm>
            <a:off x="5626734" y="3764751"/>
            <a:ext cx="2191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(homologous to intrinsic growth rates)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DE921D-7D15-0FA1-38B1-8A5307763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6" y="2116421"/>
            <a:ext cx="3439603" cy="308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/>
      <p:bldP spid="40" grpId="0" animBg="1"/>
      <p:bldP spid="41" grpId="0" animBg="1"/>
      <p:bldP spid="43" grpId="0" animBg="1"/>
      <p:bldP spid="4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BF490-3B27-6B4A-2FE4-AE6E75CA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BCA1-4AD6-4816-9007-BD38F37E1B8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A5213-3525-182D-DF49-598CD5FF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E272-D26B-F622-D7A0-CB3D435F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BFCA9-2CF5-365C-0E68-D5D45F99B5F6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Effective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gLV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parameter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s cannot be interpreted using </a:t>
            </a:r>
            <a:r>
              <a:rPr lang="en-GB" sz="28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 intuition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FEB68-449E-F9A1-B7BE-30D269A89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556811"/>
            <a:ext cx="9878804" cy="57443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1A636F-45E5-732F-13AC-25B9235669BB}"/>
              </a:ext>
            </a:extLst>
          </p:cNvPr>
          <p:cNvSpPr/>
          <p:nvPr/>
        </p:nvSpPr>
        <p:spPr>
          <a:xfrm>
            <a:off x="5929745" y="1237673"/>
            <a:ext cx="5190837" cy="45073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18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0BDF0-7D8C-81D1-0BE6-C2F862CF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516B-9EA9-470A-9AAD-1C2BC1C93FBF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27F32-6645-1CB5-D661-9ADAE14E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0A26D-77B9-B4A6-5F58-51F2AA37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BD2AE-8F65-AC73-9DA5-710829A6E603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Effective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gLV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parameter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s cannot be interpreted using </a:t>
            </a:r>
            <a:r>
              <a:rPr lang="en-GB" sz="2800" b="1" dirty="0" err="1">
                <a:solidFill>
                  <a:srgbClr val="000000"/>
                </a:solidFill>
                <a:latin typeface="Calibri" panose="020F0502020204030204"/>
              </a:rPr>
              <a:t>gLV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 intuition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1BF10-6CA1-E58B-28B2-B0C08AC2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6" y="590154"/>
            <a:ext cx="9974067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49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E66DC-D26C-382B-ECEE-17719547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7CAD-9BF8-43FB-A06B-5B57964A2C30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08F31-690D-E4D8-224B-8DC5AD8A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D46CB-AFE8-81B1-F66F-A4593334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B188A-E8C3-E3CD-6900-652B65AEE45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Stabilisation mechanism is consistent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 across community sizes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C0BCD-5724-D037-0A9B-C42B3604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51" y="3195936"/>
            <a:ext cx="5028182" cy="156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E09018-0902-B140-2478-93FADB4F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415" y="1376407"/>
            <a:ext cx="1648055" cy="1819529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10C38B7F-2E5C-F2D7-AC59-F2A89852420F}"/>
              </a:ext>
            </a:extLst>
          </p:cNvPr>
          <p:cNvSpPr txBox="1"/>
          <p:nvPr/>
        </p:nvSpPr>
        <p:spPr>
          <a:xfrm>
            <a:off x="3729751" y="4740421"/>
            <a:ext cx="1941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Mee et al (2014) PNAS.</a:t>
            </a:r>
            <a:endParaRPr lang="en-GB"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947F4F-7776-FA36-DF24-D2497A558DF6}"/>
              </a:ext>
            </a:extLst>
          </p:cNvPr>
          <p:cNvSpPr/>
          <p:nvPr/>
        </p:nvSpPr>
        <p:spPr>
          <a:xfrm>
            <a:off x="424873" y="3193834"/>
            <a:ext cx="406400" cy="2351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0FB4DB-0FCA-59B7-1167-FB968082A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272" y="4108066"/>
            <a:ext cx="5511111" cy="2143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3DE396-9B27-B2B7-C195-A94536AE6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208200"/>
            <a:ext cx="5643383" cy="18893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5151F0-81AD-8152-6456-C8A1AD112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570" y="584252"/>
            <a:ext cx="5478812" cy="161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56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81F67-FA4B-A754-A4CA-8C965CDD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A7BD-987D-4483-BA76-A8733B4FED81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563DC-F85B-4156-2EFC-5F67655A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40F9-D9B7-EC6F-A928-C5C4DB26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E849C-814A-A766-C6BF-16F742FF6BF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Reconciling the camps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AA9B1-7C32-1E80-C56B-6B78F7FC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573"/>
            <a:ext cx="5637402" cy="1922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03895-5646-E567-E5EA-A403C5A2AF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488"/>
          <a:stretch/>
        </p:blipFill>
        <p:spPr>
          <a:xfrm>
            <a:off x="263884" y="3671835"/>
            <a:ext cx="4304292" cy="1482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0A90D0-58D3-5BFB-8131-1321CAA09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176" y="3841635"/>
            <a:ext cx="1209844" cy="1143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3B546C-C87E-A3E7-470D-563E1C812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176" y="3881485"/>
            <a:ext cx="1209844" cy="114316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16ED09-2618-5B64-9DE7-D65135C35E45}"/>
              </a:ext>
            </a:extLst>
          </p:cNvPr>
          <p:cNvCxnSpPr>
            <a:cxnSpLocks/>
          </p:cNvCxnSpPr>
          <p:nvPr/>
        </p:nvCxnSpPr>
        <p:spPr>
          <a:xfrm flipV="1">
            <a:off x="5792002" y="714375"/>
            <a:ext cx="0" cy="542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1BB9D72-031D-0587-8E86-A82EA5D26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863" y="767881"/>
            <a:ext cx="6004250" cy="2999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7D7B87-3496-025E-DC7E-37CE62450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51870" y="2756060"/>
            <a:ext cx="715332" cy="2925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B0FFAD-6781-F0A4-5D0C-5BC41C47F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210366" y="2813726"/>
            <a:ext cx="486888" cy="30556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8ACFE7-249E-41C2-4665-075E4A4046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1599" y="4726455"/>
            <a:ext cx="3148105" cy="14171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FED4E3-134A-5928-AA38-65E5277661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3863" y="4765772"/>
            <a:ext cx="2992887" cy="13144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420605-F183-4B89-1F2D-F120A55A10BF}"/>
              </a:ext>
            </a:extLst>
          </p:cNvPr>
          <p:cNvSpPr/>
          <p:nvPr/>
        </p:nvSpPr>
        <p:spPr>
          <a:xfrm>
            <a:off x="5845521" y="5471684"/>
            <a:ext cx="124061" cy="422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DBFDDD5F-DEAC-B06D-67FE-FE400777C6F5}"/>
              </a:ext>
            </a:extLst>
          </p:cNvPr>
          <p:cNvSpPr txBox="1"/>
          <p:nvPr/>
        </p:nvSpPr>
        <p:spPr>
          <a:xfrm>
            <a:off x="203437" y="5087874"/>
            <a:ext cx="402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 Nova" panose="020B0504020202020204" pitchFamily="34" charset="0"/>
              </a:rPr>
              <a:t>Palmer &amp; Foster (2022) </a:t>
            </a:r>
            <a:r>
              <a:rPr lang="en-GB" sz="1200" b="1" i="1" dirty="0">
                <a:latin typeface="Arial Nova" panose="020B0504020202020204" pitchFamily="34" charset="0"/>
              </a:rPr>
              <a:t>Science</a:t>
            </a:r>
            <a:endParaRPr lang="en-GB" sz="1200" b="1" dirty="0">
              <a:latin typeface="Arial Nova" panose="020B0504020202020204" pitchFamily="34" charset="0"/>
            </a:endParaRPr>
          </a:p>
        </p:txBody>
      </p:sp>
      <p:pic>
        <p:nvPicPr>
          <p:cNvPr id="24" name="Picture 4" descr="Handshake clipart, Handshake Transparent FREE for download on ...">
            <a:extLst>
              <a:ext uri="{FF2B5EF4-FFF2-40B4-BE49-F238E27FC236}">
                <a16:creationId xmlns:a16="http://schemas.microsoft.com/office/drawing/2014/main" id="{7DDA3EC7-36AA-3A9B-BB30-352AC645B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052" y="1988371"/>
            <a:ext cx="4945899" cy="299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24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EDFB4-42D3-7402-B3F7-D49D4718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0A023-7132-DD3E-0E39-5008FC78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5ABDF-40FA-4235-A2D7-BAA428BA4DFB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0343F-881D-2CE5-661E-128E6908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E0808-B073-C663-04D8-81CB59BC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39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583B3-6637-3368-240D-5D3DE7803FFD}"/>
              </a:ext>
            </a:extLst>
          </p:cNvPr>
          <p:cNvSpPr txBox="1"/>
          <p:nvPr/>
        </p:nvSpPr>
        <p:spPr>
          <a:xfrm>
            <a:off x="0" y="2844225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3: Modern coexistence theory</a:t>
            </a:r>
          </a:p>
        </p:txBody>
      </p:sp>
    </p:spTree>
    <p:extLst>
      <p:ext uri="{BB962C8B-B14F-4D97-AF65-F5344CB8AC3E}">
        <p14:creationId xmlns:p14="http://schemas.microsoft.com/office/powerpoint/2010/main" val="3384169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BE307-4754-24DC-361D-17851819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40D85-A2BF-B192-89E5-E6603215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417E4-6FF5-5665-9DC9-85D15EA2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67885-E648-B52F-E244-1800BAD1A63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Modern Coexistence Theory (MCT)?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B196F1-F62C-53E8-1B58-62E7E7ED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01" y="828758"/>
            <a:ext cx="4300568" cy="3685225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42068B38-197D-7066-E6C5-BCCD4CA78776}"/>
              </a:ext>
            </a:extLst>
          </p:cNvPr>
          <p:cNvSpPr txBox="1"/>
          <p:nvPr/>
        </p:nvSpPr>
        <p:spPr>
          <a:xfrm rot="16200000">
            <a:off x="4705976" y="2902575"/>
            <a:ext cx="247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Chesson (1990) Theo. Pop. Bio.</a:t>
            </a:r>
            <a:endParaRPr lang="en-GB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766F9-5F61-F74A-1A68-F2B111EFC2F5}"/>
              </a:ext>
            </a:extLst>
          </p:cNvPr>
          <p:cNvSpPr txBox="1"/>
          <p:nvPr/>
        </p:nvSpPr>
        <p:spPr>
          <a:xfrm>
            <a:off x="2135352" y="4512527"/>
            <a:ext cx="31016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Niche overlap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D9DB7B-E7C0-E33F-40F0-A2F0FE308A50}"/>
              </a:ext>
            </a:extLst>
          </p:cNvPr>
          <p:cNvSpPr txBox="1"/>
          <p:nvPr/>
        </p:nvSpPr>
        <p:spPr>
          <a:xfrm rot="16200000">
            <a:off x="-274462" y="2384491"/>
            <a:ext cx="31016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Log(Fitness ratio)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001245-E8B9-4F2E-2AB7-F712C1A8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4" y="4595276"/>
            <a:ext cx="1409192" cy="11417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AD5D1E-8797-779F-6BB7-EF0BCC48D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960" y="4716669"/>
            <a:ext cx="1360237" cy="8989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C49A5A-7324-0C90-BA3F-CC759B3B2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531" y="4685891"/>
            <a:ext cx="1641338" cy="8989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E57D68-60AB-C67E-AC12-95BC5B6B3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925" y="4716669"/>
            <a:ext cx="1641338" cy="8989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C202B8-F22F-C68C-90EE-B9C562A50C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83" y="5682527"/>
            <a:ext cx="795787" cy="6242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E048E2-035F-3258-1D81-FB650626E0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4959" y="5543339"/>
            <a:ext cx="962129" cy="76342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3B03D3-E915-DAB2-F2F9-CFF5D745E431}"/>
              </a:ext>
            </a:extLst>
          </p:cNvPr>
          <p:cNvCxnSpPr>
            <a:cxnSpLocks/>
          </p:cNvCxnSpPr>
          <p:nvPr/>
        </p:nvCxnSpPr>
        <p:spPr>
          <a:xfrm flipV="1">
            <a:off x="1611984" y="4231735"/>
            <a:ext cx="114544" cy="3635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3172F0-AA68-244C-D4C2-9443CCB9129F}"/>
              </a:ext>
            </a:extLst>
          </p:cNvPr>
          <p:cNvCxnSpPr>
            <a:cxnSpLocks/>
          </p:cNvCxnSpPr>
          <p:nvPr/>
        </p:nvCxnSpPr>
        <p:spPr>
          <a:xfrm flipH="1" flipV="1">
            <a:off x="5788223" y="4302516"/>
            <a:ext cx="153888" cy="3734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C3A1D2D0-C72E-8890-4B56-2A78E964A6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67" y="5584881"/>
            <a:ext cx="616420" cy="68270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1E4C071-6B76-CA05-DC87-79A13B313A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384" y="5584881"/>
            <a:ext cx="616420" cy="68270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F736623-935A-DF47-9C3E-2E6E35FEB0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533" y="1444262"/>
            <a:ext cx="5401429" cy="105742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CA5B5F2-45F7-5372-E0A3-A6610F40ACF1}"/>
              </a:ext>
            </a:extLst>
          </p:cNvPr>
          <p:cNvSpPr txBox="1"/>
          <p:nvPr/>
        </p:nvSpPr>
        <p:spPr>
          <a:xfrm>
            <a:off x="6159925" y="1072656"/>
            <a:ext cx="406737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a two-species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gLV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system: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173BE7-1BA4-6068-FB05-F1107349ADD7}"/>
              </a:ext>
            </a:extLst>
          </p:cNvPr>
          <p:cNvSpPr txBox="1"/>
          <p:nvPr/>
        </p:nvSpPr>
        <p:spPr>
          <a:xfrm>
            <a:off x="8193610" y="2409710"/>
            <a:ext cx="176715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Fitness ratio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EA164B-5C53-C0A7-C964-0684350EC00E}"/>
              </a:ext>
            </a:extLst>
          </p:cNvPr>
          <p:cNvSpPr txBox="1"/>
          <p:nvPr/>
        </p:nvSpPr>
        <p:spPr>
          <a:xfrm>
            <a:off x="6291608" y="2406364"/>
            <a:ext cx="176715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Niche overlap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E660A0-D960-B45C-D950-96C3E2015667}"/>
              </a:ext>
            </a:extLst>
          </p:cNvPr>
          <p:cNvSpPr txBox="1"/>
          <p:nvPr/>
        </p:nvSpPr>
        <p:spPr>
          <a:xfrm>
            <a:off x="9960768" y="2414861"/>
            <a:ext cx="202537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1/Niche overlap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8A49E7-CCA8-6C4B-BFFC-DC1B6DE8B443}"/>
              </a:ext>
            </a:extLst>
          </p:cNvPr>
          <p:cNvSpPr txBox="1"/>
          <p:nvPr/>
        </p:nvSpPr>
        <p:spPr>
          <a:xfrm>
            <a:off x="6159924" y="3051706"/>
            <a:ext cx="55198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a two-species EO system at equilibrium: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C7117D3-34A8-5D69-76A0-FEF714E39D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1692" y="3456650"/>
            <a:ext cx="5448118" cy="123052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4ABC8B0-75BB-E5C7-7153-E777E6546B84}"/>
              </a:ext>
            </a:extLst>
          </p:cNvPr>
          <p:cNvSpPr txBox="1"/>
          <p:nvPr/>
        </p:nvSpPr>
        <p:spPr>
          <a:xfrm>
            <a:off x="1964707" y="2095777"/>
            <a:ext cx="1353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Coexistence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755562-89AD-9009-86AE-AA4795773346}"/>
              </a:ext>
            </a:extLst>
          </p:cNvPr>
          <p:cNvSpPr txBox="1"/>
          <p:nvPr/>
        </p:nvSpPr>
        <p:spPr>
          <a:xfrm>
            <a:off x="3318235" y="1090347"/>
            <a:ext cx="1527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Species 1 wins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C6C52A-7DDA-DFA7-4A58-7DCA84ED0390}"/>
              </a:ext>
            </a:extLst>
          </p:cNvPr>
          <p:cNvSpPr txBox="1"/>
          <p:nvPr/>
        </p:nvSpPr>
        <p:spPr>
          <a:xfrm>
            <a:off x="3318235" y="3727936"/>
            <a:ext cx="1527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Species 2 wins</a:t>
            </a:r>
          </a:p>
        </p:txBody>
      </p:sp>
    </p:spTree>
    <p:extLst>
      <p:ext uri="{BB962C8B-B14F-4D97-AF65-F5344CB8AC3E}">
        <p14:creationId xmlns:p14="http://schemas.microsoft.com/office/powerpoint/2010/main" val="337181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E2CD73D-EB47-F16F-7EAA-0959AB8A4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1568093"/>
            <a:ext cx="10983858" cy="414395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6EE5B-F89B-8AAC-E5CB-57257887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2BE08-D8FC-BFE3-1E17-9C5AFBA3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7344-5DFB-B2FB-1C43-CEBF52BE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EA75D-AB9C-D6AF-8957-F2310A065F8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Applying MCT</a:t>
            </a:r>
            <a:r>
              <a:rPr lang="en-GB" sz="2800" b="1" dirty="0">
                <a:solidFill>
                  <a:srgbClr val="000000"/>
                </a:solidFill>
                <a:latin typeface="Calibri" panose="020F0502020204030204"/>
              </a:rPr>
              <a:t> to mutualisms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99A1E-C7B4-6D5E-FA25-CFAD242A607D}"/>
              </a:ext>
            </a:extLst>
          </p:cNvPr>
          <p:cNvSpPr/>
          <p:nvPr/>
        </p:nvSpPr>
        <p:spPr>
          <a:xfrm>
            <a:off x="7597229" y="1657180"/>
            <a:ext cx="4293718" cy="4404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25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CE9A5-9A66-0A7C-452A-EF382468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DB370-696B-73CD-D680-B0CE4CE4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78650-0CAC-00EA-89C5-B6A3F365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686BF-B97E-F4F3-C31D-F6F55C91C0DB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Obtaining mechanistic insight into mutualistic coexistence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5BD26-A1D9-03FD-D965-6D420094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35" y="595549"/>
            <a:ext cx="4171893" cy="268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04043B-08AF-AED4-19CB-FDABE4ED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35" y="3413392"/>
            <a:ext cx="4171893" cy="2884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F9AAFD-D821-5203-BCF1-953E05BF9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56" y="1136917"/>
            <a:ext cx="5433865" cy="498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7C4EC-5909-4E7A-5F78-9173F22E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1376E-CA75-331B-CDCA-E45E6715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48C0-98ED-6548-7DF1-01250BD0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4C3DE-3DD6-19CA-089D-03775D36E0F3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support for accelerational approach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94594-8A58-2E39-F8E9-D9D7704C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1" y="1129742"/>
            <a:ext cx="5439373" cy="4014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DAEEBF-B894-E68A-384E-906E8AF0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110" y="969889"/>
            <a:ext cx="6138065" cy="49182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2E1E8D-ADE1-35B4-1306-DBC6BDAB5D3F}"/>
              </a:ext>
            </a:extLst>
          </p:cNvPr>
          <p:cNvSpPr txBox="1"/>
          <p:nvPr/>
        </p:nvSpPr>
        <p:spPr>
          <a:xfrm>
            <a:off x="6517226" y="657204"/>
            <a:ext cx="551988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Arial" panose="020B0604020202020204" pitchFamily="34" charset="0"/>
                <a:cs typeface="Arial" panose="020B0604020202020204" pitchFamily="34" charset="0"/>
              </a:rPr>
              <a:t>Data from Ho et al. Nat. </a:t>
            </a:r>
            <a:r>
              <a:rPr lang="en-GB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Microbiol</a:t>
            </a:r>
            <a:r>
              <a:rPr lang="en-GB" sz="1600" i="1" dirty="0">
                <a:latin typeface="Arial" panose="020B0604020202020204" pitchFamily="34" charset="0"/>
                <a:cs typeface="Arial" panose="020B0604020202020204" pitchFamily="34" charset="0"/>
              </a:rPr>
              <a:t>. (2024)</a:t>
            </a:r>
            <a:endParaRPr lang="en-GB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61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F0814-B280-FDF7-AB40-89D72824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49F9-BBB7-4A30-BD00-270B7E138AB4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7EF28-48CF-E71E-CC75-3F79C856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17F8-C8B9-A53F-4322-0496865F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A27C2-440B-F5A4-DD9B-38D21C727BFA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90BBF2C-5963-1A4E-27CD-A5D981F34E9A}"/>
              </a:ext>
            </a:extLst>
          </p:cNvPr>
          <p:cNvSpPr txBox="1"/>
          <p:nvPr/>
        </p:nvSpPr>
        <p:spPr>
          <a:xfrm>
            <a:off x="266546" y="1272529"/>
            <a:ext cx="91570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Growth in mechanistic ecological models is a second order process (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accelerational</a:t>
            </a: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)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3200" b="1" dirty="0">
              <a:solidFill>
                <a:srgbClr val="000000"/>
              </a:solidFill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Changes in interaction </a:t>
            </a:r>
            <a:r>
              <a:rPr lang="en-GB" sz="3200" b="1" noProof="0" dirty="0">
                <a:solidFill>
                  <a:srgbClr val="000000"/>
                </a:solidFill>
                <a:latin typeface="Calibri" panose="020F0502020204030204"/>
              </a:rPr>
              <a:t>mechanisms don’t necessarily have an intuitive effect on net interactions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200" b="1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Taking</a:t>
            </a:r>
            <a:r>
              <a:rPr kumimoji="0" lang="en-GB" sz="3200" b="1" i="0" u="none" strike="noStrike" kern="120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 account of second order dynamics allows us to accurately resolve microbial coexistence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02A93299-FF27-BBF2-A14C-6D81295CF8DF}"/>
                  </a:ext>
                </a:extLst>
              </p:cNvPr>
              <p:cNvSpPr txBox="1"/>
              <p:nvPr/>
            </p:nvSpPr>
            <p:spPr>
              <a:xfrm>
                <a:off x="9222521" y="931622"/>
                <a:ext cx="1949636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CH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H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CH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fr-CH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H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CH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H" sz="2400" dirty="0"/>
              </a:p>
            </p:txBody>
          </p:sp>
        </mc:Choice>
        <mc:Fallback xmlns="">
          <p:sp>
            <p:nvSpPr>
              <p:cNvPr id="8" name="ZoneTexte 33">
                <a:extLst>
                  <a:ext uri="{FF2B5EF4-FFF2-40B4-BE49-F238E27FC236}">
                    <a16:creationId xmlns:a16="http://schemas.microsoft.com/office/drawing/2014/main" id="{02A93299-FF27-BBF2-A14C-6D81295C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2521" y="931622"/>
                <a:ext cx="1949636" cy="9681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E081CC2-8116-9ECD-DDE5-084D935555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13" t="29858" b="35989"/>
          <a:stretch>
            <a:fillRect/>
          </a:stretch>
        </p:blipFill>
        <p:spPr>
          <a:xfrm>
            <a:off x="8686272" y="2337173"/>
            <a:ext cx="3376700" cy="1842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C5C9C4-1E89-40D2-F736-CCB8249013D8}"/>
              </a:ext>
            </a:extLst>
          </p:cNvPr>
          <p:cNvSpPr txBox="1"/>
          <p:nvPr/>
        </p:nvSpPr>
        <p:spPr>
          <a:xfrm>
            <a:off x="8823789" y="4077391"/>
            <a:ext cx="31016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Amino acid secretion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96761-3507-C5A6-896F-6F53101F9674}"/>
              </a:ext>
            </a:extLst>
          </p:cNvPr>
          <p:cNvSpPr txBox="1"/>
          <p:nvPr/>
        </p:nvSpPr>
        <p:spPr>
          <a:xfrm rot="16200000">
            <a:off x="7582583" y="3180744"/>
            <a:ext cx="158790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Biotic acceleration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5B84C3-E73E-4DE9-49B3-6F154FB61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340" y="4617179"/>
            <a:ext cx="1946259" cy="155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6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4645" y="1975932"/>
            <a:ext cx="3816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Thank you!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CAB8C8-8F79-49FC-AD6F-9655124C2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10" y="4574442"/>
            <a:ext cx="1802653" cy="1001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F3AEC1-9E59-4244-9FFC-D48C5CB48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02653" cy="1324018"/>
          </a:xfrm>
          <a:prstGeom prst="rect">
            <a:avLst/>
          </a:prstGeom>
        </p:spPr>
      </p:pic>
      <p:pic>
        <p:nvPicPr>
          <p:cNvPr id="1026" name="Picture 2" descr="Logo and brand | Human Frontier Science Program">
            <a:extLst>
              <a:ext uri="{FF2B5EF4-FFF2-40B4-BE49-F238E27FC236}">
                <a16:creationId xmlns:a16="http://schemas.microsoft.com/office/drawing/2014/main" id="{178B1BDB-D6F0-1C28-1D50-6FB1D646A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960" y="70603"/>
            <a:ext cx="1604122" cy="160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f – Bentires-Alj lab">
            <a:extLst>
              <a:ext uri="{FF2B5EF4-FFF2-40B4-BE49-F238E27FC236}">
                <a16:creationId xmlns:a16="http://schemas.microsoft.com/office/drawing/2014/main" id="{6D434D3E-97FE-F4DB-24F4-C380F0408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914762"/>
            <a:ext cx="1802032" cy="48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242BBF41-9971-D5CD-B361-5374FDD45320}"/>
              </a:ext>
            </a:extLst>
          </p:cNvPr>
          <p:cNvSpPr txBox="1"/>
          <p:nvPr/>
        </p:nvSpPr>
        <p:spPr>
          <a:xfrm>
            <a:off x="4298352" y="4614334"/>
            <a:ext cx="29338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fr-CH" b="1" u="sng" strike="noStrike" kern="1200" cap="none" spc="0" normalizeH="0" baseline="0" noProof="0" dirty="0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Mitri </a:t>
            </a:r>
            <a:r>
              <a:rPr kumimoji="0" lang="fr-CH" b="1" u="sng" strike="noStrike" kern="1200" cap="none" spc="0" normalizeH="0" baseline="0" noProof="0" dirty="0" err="1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lab</a:t>
            </a:r>
            <a:r>
              <a:rPr kumimoji="0" lang="fr-CH" b="1" u="sng" strike="noStrike" kern="1200" cap="none" spc="0" normalizeH="0" baseline="0" noProof="0" dirty="0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(UNIL)</a:t>
            </a:r>
          </a:p>
          <a:p>
            <a:pPr>
              <a:defRPr/>
            </a:pPr>
            <a:r>
              <a:rPr kumimoji="0" lang="fr-CH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Afra</a:t>
            </a:r>
            <a:r>
              <a:rPr kumimoji="0" lang="fr-CH" u="none" strike="noStrike" kern="1200" cap="none" spc="0" normalizeH="0" baseline="0" noProof="0" dirty="0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Salazar</a:t>
            </a:r>
          </a:p>
          <a:p>
            <a:pPr>
              <a:defRPr/>
            </a:pPr>
            <a:r>
              <a:rPr kumimoji="0" lang="en-GB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Alessia Del Panta</a:t>
            </a:r>
            <a:endParaRPr lang="fr-CH" b="0" i="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Andrea Dos Santos</a:t>
            </a:r>
          </a:p>
          <a:p>
            <a:pPr>
              <a:defRPr/>
            </a:pPr>
            <a:r>
              <a:rPr kumimoji="0" lang="fr-CH" u="none" strike="noStrike" kern="1200" cap="none" spc="0" normalizeH="0" baseline="0" noProof="0" dirty="0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Clément </a:t>
            </a:r>
            <a:r>
              <a:rPr kumimoji="0" lang="fr-CH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Vulin</a:t>
            </a:r>
            <a:endParaRPr kumimoji="0" lang="fr-CH" u="none" strike="noStrike" kern="1200" cap="none" spc="0" normalizeH="0" baseline="0" noProof="0" dirty="0">
              <a:ln>
                <a:noFill/>
              </a:ln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F636BC-B29C-DA3A-5367-6A771661B328}"/>
              </a:ext>
            </a:extLst>
          </p:cNvPr>
          <p:cNvSpPr txBox="1"/>
          <p:nvPr/>
        </p:nvSpPr>
        <p:spPr>
          <a:xfrm>
            <a:off x="8991125" y="4847951"/>
            <a:ext cx="36885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Samuele Testa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Sara Mitri</a:t>
            </a:r>
            <a:endParaRPr kumimoji="0" lang="fr-CH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Snorre</a:t>
            </a:r>
            <a:r>
              <a:rPr kumimoji="0" lang="fr-CH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fr-CH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Sulheim</a:t>
            </a:r>
            <a:endParaRPr kumimoji="0" lang="fr-CH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5BDDB9-B871-C8BA-1587-5AF271DCC307}"/>
              </a:ext>
            </a:extLst>
          </p:cNvPr>
          <p:cNvCxnSpPr>
            <a:cxnSpLocks/>
          </p:cNvCxnSpPr>
          <p:nvPr/>
        </p:nvCxnSpPr>
        <p:spPr>
          <a:xfrm flipH="1">
            <a:off x="4090892" y="0"/>
            <a:ext cx="1" cy="6340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group of people standing in the snow&#10;&#10;Description automatically generated">
            <a:extLst>
              <a:ext uri="{FF2B5EF4-FFF2-40B4-BE49-F238E27FC236}">
                <a16:creationId xmlns:a16="http://schemas.microsoft.com/office/drawing/2014/main" id="{C7C38356-0CE1-1C61-C13A-E693BA6550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892" y="0"/>
            <a:ext cx="8101099" cy="4556868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7F29C24F-B0DF-6082-6256-EA37E197525D}"/>
              </a:ext>
            </a:extLst>
          </p:cNvPr>
          <p:cNvSpPr txBox="1"/>
          <p:nvPr/>
        </p:nvSpPr>
        <p:spPr>
          <a:xfrm>
            <a:off x="2102927" y="1724430"/>
            <a:ext cx="190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LT0020/2022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0B2C-9184-6F3D-7173-B965ED00B34F}"/>
              </a:ext>
            </a:extLst>
          </p:cNvPr>
          <p:cNvSpPr txBox="1"/>
          <p:nvPr/>
        </p:nvSpPr>
        <p:spPr>
          <a:xfrm>
            <a:off x="6755205" y="4847951"/>
            <a:ext cx="21571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Eric Ulrich</a:t>
            </a:r>
          </a:p>
          <a:p>
            <a:pPr>
              <a:defRPr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Julien Luneau</a:t>
            </a:r>
          </a:p>
          <a:p>
            <a:pPr lvl="0" defTabSz="914400">
              <a:defRPr/>
            </a:pPr>
            <a:r>
              <a:rPr lang="fr-CH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Margaret Vogel</a:t>
            </a:r>
          </a:p>
          <a:p>
            <a:pPr lvl="0" defTabSz="914400">
              <a:defRPr/>
            </a:pPr>
            <a:r>
              <a:rPr lang="fr-CH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Massimo </a:t>
            </a:r>
            <a:r>
              <a:rPr lang="fr-CH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Amicone</a:t>
            </a:r>
            <a:endParaRPr lang="fr-CH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2" descr="Brand toolkit | The University of Sheffield">
            <a:extLst>
              <a:ext uri="{FF2B5EF4-FFF2-40B4-BE49-F238E27FC236}">
                <a16:creationId xmlns:a16="http://schemas.microsoft.com/office/drawing/2014/main" id="{1642B3B6-A2CD-E80B-506E-62D088459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25" y="5575917"/>
            <a:ext cx="1769717" cy="70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47A4A-9495-F916-924C-CFA2B2F3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8EA-8D94-4986-A7C4-5C6C73C1E4DB}" type="datetime1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17666-9748-9B99-85D1-037872AB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79317F-5142-C6D7-20FB-B74DB081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45</a:t>
            </a:fld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CB81D4-02EC-8D2E-7811-99B2354321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9782" y="2867892"/>
            <a:ext cx="1686290" cy="16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08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984AD-E41F-F48F-7793-BBDA8DE6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6E70-BB95-4E7F-998B-73CA8C7F813A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EE6FD-BE19-4484-8390-42585F90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CC4C-8B59-C9D7-C073-5BD38E35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293F8-5E3F-0007-D99E-8F710786FF9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Some ground rules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0F8717-A15C-80B3-CEC3-9ACB55970169}"/>
              </a:ext>
            </a:extLst>
          </p:cNvPr>
          <p:cNvSpPr txBox="1"/>
          <p:nvPr/>
        </p:nvSpPr>
        <p:spPr>
          <a:xfrm>
            <a:off x="321892" y="1186002"/>
            <a:ext cx="115482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In this talk, I will be assuming: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GB" sz="2400" dirty="0">
                <a:solidFill>
                  <a:srgbClr val="000000"/>
                </a:solidFill>
                <a:latin typeface="Arial Nova" panose="020B0504020202020204" pitchFamily="34" charset="0"/>
              </a:rPr>
              <a:t>Ecosystems are well-mixed (mostly – I’ll briefly mention a spatial model)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Populations impact </a:t>
            </a:r>
            <a:r>
              <a:rPr lang="en-GB" sz="2400" dirty="0">
                <a:solidFill>
                  <a:srgbClr val="000000"/>
                </a:solidFill>
                <a:latin typeface="Arial Nova" panose="020B0504020202020204" pitchFamily="34" charset="0"/>
              </a:rPr>
              <a:t>each others’ growth indirectly through modifications to environmental parameters such as nutrient availability, salinity or pH (so no predator-prey interactions or contact-dependent weapon systems)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Dynamics are deterministic (so no neutral theory here!)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GB" sz="2400" dirty="0">
              <a:solidFill>
                <a:srgbClr val="000000"/>
              </a:solidFill>
              <a:latin typeface="Arial Nova" panose="020B05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Growth rates are a smooth function of environmental composition (a technical point, but important for preventing singularities in some equations)</a:t>
            </a:r>
          </a:p>
        </p:txBody>
      </p:sp>
    </p:spTree>
    <p:extLst>
      <p:ext uri="{BB962C8B-B14F-4D97-AF65-F5344CB8AC3E}">
        <p14:creationId xmlns:p14="http://schemas.microsoft.com/office/powerpoint/2010/main" val="419677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4957A-AFD0-08E6-6C80-C11D6AB8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82F-77FB-4977-8B8D-EB3A2BE2843B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81D5D-D674-6A4D-5DB4-AE0FC1E9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55CA4-4D99-5E7C-431E-94694880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47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BBC4C-DD23-BE15-C923-47CA120490C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What is a per-capita growth acceleration (PCGA)?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76D47-01C9-9A2A-8A2C-0AAD5AC89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1" y="3374012"/>
            <a:ext cx="5116459" cy="2917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2129E-A687-2CC5-CA7A-2C704E3B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753" y="1397428"/>
            <a:ext cx="3045640" cy="22908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3B02A8-06EF-A2AF-8374-159AF2909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65" y="1369776"/>
            <a:ext cx="3221142" cy="229082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7DC36-5C53-6C61-04AA-6E698632D32C}"/>
              </a:ext>
            </a:extLst>
          </p:cNvPr>
          <p:cNvCxnSpPr>
            <a:cxnSpLocks/>
          </p:cNvCxnSpPr>
          <p:nvPr/>
        </p:nvCxnSpPr>
        <p:spPr>
          <a:xfrm>
            <a:off x="7094343" y="734631"/>
            <a:ext cx="0" cy="541766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41B6CE9-B663-B34D-B304-56B50DBE8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382" y="1384286"/>
            <a:ext cx="3011998" cy="22016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C20462-A5F2-52A7-8F40-B3B52F8AFF63}"/>
              </a:ext>
            </a:extLst>
          </p:cNvPr>
          <p:cNvSpPr txBox="1"/>
          <p:nvPr/>
        </p:nvSpPr>
        <p:spPr>
          <a:xfrm>
            <a:off x="1374244" y="815919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Fixed PCGAs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9D79EC-D82E-A9A1-E849-666521085200}"/>
              </a:ext>
            </a:extLst>
          </p:cNvPr>
          <p:cNvSpPr txBox="1"/>
          <p:nvPr/>
        </p:nvSpPr>
        <p:spPr>
          <a:xfrm>
            <a:off x="7293712" y="815919"/>
            <a:ext cx="4623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Fixed PCGRs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672453-778D-17A4-C487-04CC3EADD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382" y="3585949"/>
            <a:ext cx="3225149" cy="256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33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F858551-0E67-5952-5BEC-E668A07D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76DC-659B-42BA-B478-D164316F937E}" type="datetime1">
              <a:rPr lang="en-GB" smtClean="0"/>
              <a:t>28/07/2026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695068-442D-2C91-AB1B-6FFB7876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Accelerations in microbial ecosystems</a:t>
            </a:r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13E77A-9371-83FD-F5CD-F0D3ED15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48</a:t>
            </a:fld>
            <a:endParaRPr lang="fr-CH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A3A4C21-FA58-DC90-98D8-E182FDD6734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Spatial structure and time-dependence arise from the same process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C8F266-79C9-8C64-9BB0-153800B2C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77" y="742949"/>
            <a:ext cx="10051252" cy="553443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E488B85-5934-41AB-847A-B466386103AA}"/>
              </a:ext>
            </a:extLst>
          </p:cNvPr>
          <p:cNvSpPr txBox="1"/>
          <p:nvPr/>
        </p:nvSpPr>
        <p:spPr>
          <a:xfrm rot="16200000">
            <a:off x="9821086" y="4341308"/>
            <a:ext cx="33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/>
              <a:t>Meacock &amp; Mitri (2023) Under review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48822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02C7B0-CC6E-C4FE-F092-05382071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41582-8E00-464C-AAC5-D30944B40AB9}" type="datetime1">
              <a:rPr lang="en-GB" smtClean="0"/>
              <a:t>28/07/2026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C035DF-F9BF-7BD7-BAC0-3F3E0968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Accelerations in microbial ecosystems</a:t>
            </a:r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CCC401-427C-9A60-5E1F-575E43BD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C88A4-8FB0-4241-B1A8-EF81EB44D4D2}" type="slidenum">
              <a:rPr lang="fr-CH" smtClean="0"/>
              <a:t>49</a:t>
            </a:fld>
            <a:endParaRPr lang="fr-CH"/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60C0DE76-FD2E-5F84-C741-E54F3F5F8A7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</a:t>
            </a:r>
            <a:r>
              <a:rPr lang="en-GB" sz="3200" b="1" dirty="0" err="1">
                <a:solidFill>
                  <a:srgbClr val="000000"/>
                </a:solidFill>
                <a:latin typeface="Calibri" panose="020F0502020204030204"/>
              </a:rPr>
              <a:t>cEO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framework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C619E2-DABB-1073-1429-8B4E8FDB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660698"/>
            <a:ext cx="11553825" cy="41429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8D4762-2A97-0FFA-8B86-36F24CB6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67" y="4196049"/>
            <a:ext cx="2055332" cy="521070"/>
          </a:xfrm>
          <a:prstGeom prst="rect">
            <a:avLst/>
          </a:prstGeom>
        </p:spPr>
      </p:pic>
      <p:sp>
        <p:nvSpPr>
          <p:cNvPr id="7" name="Right Brace 9">
            <a:extLst>
              <a:ext uri="{FF2B5EF4-FFF2-40B4-BE49-F238E27FC236}">
                <a16:creationId xmlns:a16="http://schemas.microsoft.com/office/drawing/2014/main" id="{A7996C71-D7B2-122D-7EA3-4F54B2239E4D}"/>
              </a:ext>
            </a:extLst>
          </p:cNvPr>
          <p:cNvSpPr/>
          <p:nvPr/>
        </p:nvSpPr>
        <p:spPr>
          <a:xfrm rot="5400000">
            <a:off x="9025715" y="3869008"/>
            <a:ext cx="621437" cy="2055331"/>
          </a:xfrm>
          <a:prstGeom prst="rightBrace">
            <a:avLst>
              <a:gd name="adj1" fmla="val 3976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2F4E7D8F-74BB-64F6-C1DE-62C670056D1B}"/>
              </a:ext>
            </a:extLst>
          </p:cNvPr>
          <p:cNvSpPr txBox="1"/>
          <p:nvPr/>
        </p:nvSpPr>
        <p:spPr>
          <a:xfrm>
            <a:off x="860022" y="5327805"/>
            <a:ext cx="450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closed Environment-Organism (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cEO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equation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63AD8-3C92-6EC9-9D81-6E71185C45A3}"/>
              </a:ext>
            </a:extLst>
          </p:cNvPr>
          <p:cNvSpPr txBox="1"/>
          <p:nvPr/>
        </p:nvSpPr>
        <p:spPr>
          <a:xfrm>
            <a:off x="10398528" y="4178074"/>
            <a:ext cx="1793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Biotic acceleration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A12DBB-87B3-7EEF-BF9F-AAB4C5855854}"/>
                  </a:ext>
                </a:extLst>
              </p:cNvPr>
              <p:cNvSpPr txBox="1"/>
              <p:nvPr/>
            </p:nvSpPr>
            <p:spPr>
              <a:xfrm>
                <a:off x="5754591" y="4956059"/>
                <a:ext cx="5342680" cy="1115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nary>
                            <m:naryPr>
                              <m:limLoc m:val="undOvr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A12DBB-87B3-7EEF-BF9F-AAB4C5855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591" y="4956059"/>
                <a:ext cx="5342680" cy="1115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97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6" grpId="0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53AB433A-7EFD-B842-C2B1-E7A1667F9C1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are microbial interactions usually measured?</a:t>
            </a:r>
          </a:p>
        </p:txBody>
      </p:sp>
      <p:pic>
        <p:nvPicPr>
          <p:cNvPr id="7" name="Graphique 6" descr="Fiole contour">
            <a:extLst>
              <a:ext uri="{FF2B5EF4-FFF2-40B4-BE49-F238E27FC236}">
                <a16:creationId xmlns:a16="http://schemas.microsoft.com/office/drawing/2014/main" id="{4EEB3746-CF10-8ECF-283E-B329AA48B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7966" y="2605237"/>
            <a:ext cx="1782280" cy="1782280"/>
          </a:xfrm>
          <a:prstGeom prst="rect">
            <a:avLst/>
          </a:prstGeom>
        </p:spPr>
      </p:pic>
      <p:pic>
        <p:nvPicPr>
          <p:cNvPr id="8" name="Graphique 7" descr="Fiole contour">
            <a:extLst>
              <a:ext uri="{FF2B5EF4-FFF2-40B4-BE49-F238E27FC236}">
                <a16:creationId xmlns:a16="http://schemas.microsoft.com/office/drawing/2014/main" id="{7037CC1F-E7EA-9912-9606-D9F3390B4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7965" y="684616"/>
            <a:ext cx="1782280" cy="1782280"/>
          </a:xfrm>
          <a:prstGeom prst="rect">
            <a:avLst/>
          </a:prstGeom>
        </p:spPr>
      </p:pic>
      <p:pic>
        <p:nvPicPr>
          <p:cNvPr id="9" name="Graphique 8" descr="Fiole contour">
            <a:extLst>
              <a:ext uri="{FF2B5EF4-FFF2-40B4-BE49-F238E27FC236}">
                <a16:creationId xmlns:a16="http://schemas.microsoft.com/office/drawing/2014/main" id="{4177D933-2628-8D58-65AA-982D37EFC5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7965" y="4506607"/>
            <a:ext cx="1782280" cy="178228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07E8BBA-F2B3-1D7A-7C4B-6D71A4151C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05" r="62153"/>
          <a:stretch/>
        </p:blipFill>
        <p:spPr bwMode="auto">
          <a:xfrm>
            <a:off x="6436509" y="1082220"/>
            <a:ext cx="5107485" cy="309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E16A2CA3-FD97-562B-C845-BB175543B5C3}"/>
              </a:ext>
            </a:extLst>
          </p:cNvPr>
          <p:cNvSpPr txBox="1"/>
          <p:nvPr/>
        </p:nvSpPr>
        <p:spPr>
          <a:xfrm rot="16200000">
            <a:off x="9687096" y="1972161"/>
            <a:ext cx="4021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Kehe</a:t>
            </a:r>
            <a:r>
              <a:rPr lang="en-GB" sz="1400" dirty="0"/>
              <a:t> et al. (2021) </a:t>
            </a:r>
            <a:r>
              <a:rPr lang="en-GB" sz="1400" i="1" dirty="0"/>
              <a:t>Sci. Advances</a:t>
            </a:r>
            <a:r>
              <a:rPr lang="en-GB" sz="1400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FC8F5-D955-5507-339D-069D6CF39C08}"/>
              </a:ext>
            </a:extLst>
          </p:cNvPr>
          <p:cNvSpPr/>
          <p:nvPr/>
        </p:nvSpPr>
        <p:spPr>
          <a:xfrm>
            <a:off x="6333423" y="972151"/>
            <a:ext cx="385011" cy="4359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823B64-D5EB-74C8-4CB7-1589F11CB3A1}"/>
              </a:ext>
            </a:extLst>
          </p:cNvPr>
          <p:cNvSpPr/>
          <p:nvPr/>
        </p:nvSpPr>
        <p:spPr>
          <a:xfrm>
            <a:off x="11270235" y="2110197"/>
            <a:ext cx="385011" cy="4359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5" name="Graphique 14" descr="Microbe avec un remplissage uni">
            <a:extLst>
              <a:ext uri="{FF2B5EF4-FFF2-40B4-BE49-F238E27FC236}">
                <a16:creationId xmlns:a16="http://schemas.microsoft.com/office/drawing/2014/main" id="{A4C2478D-856D-1733-C158-AF1CBD8D1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155" y="2199843"/>
            <a:ext cx="914400" cy="914400"/>
          </a:xfrm>
          <a:prstGeom prst="rect">
            <a:avLst/>
          </a:prstGeom>
        </p:spPr>
      </p:pic>
      <p:pic>
        <p:nvPicPr>
          <p:cNvPr id="18" name="Graphique 17" descr="Microbe avec un remplissage uni">
            <a:extLst>
              <a:ext uri="{FF2B5EF4-FFF2-40B4-BE49-F238E27FC236}">
                <a16:creationId xmlns:a16="http://schemas.microsoft.com/office/drawing/2014/main" id="{67A26F32-E917-A558-CD98-58D85D745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55" y="4126650"/>
            <a:ext cx="914400" cy="914400"/>
          </a:xfrm>
          <a:prstGeom prst="rect">
            <a:avLst/>
          </a:prstGeom>
        </p:spPr>
      </p:pic>
      <p:pic>
        <p:nvPicPr>
          <p:cNvPr id="19" name="Graphique 18" descr="Microbe avec un remplissage uni">
            <a:extLst>
              <a:ext uri="{FF2B5EF4-FFF2-40B4-BE49-F238E27FC236}">
                <a16:creationId xmlns:a16="http://schemas.microsoft.com/office/drawing/2014/main" id="{8794FB17-7D87-C7D8-A062-6D4B742AA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882" y="1930101"/>
            <a:ext cx="332445" cy="332445"/>
          </a:xfrm>
          <a:prstGeom prst="rect">
            <a:avLst/>
          </a:prstGeom>
        </p:spPr>
      </p:pic>
      <p:pic>
        <p:nvPicPr>
          <p:cNvPr id="20" name="Graphique 19" descr="Microbe avec un remplissage uni">
            <a:extLst>
              <a:ext uri="{FF2B5EF4-FFF2-40B4-BE49-F238E27FC236}">
                <a16:creationId xmlns:a16="http://schemas.microsoft.com/office/drawing/2014/main" id="{4E3EBB5A-F234-7B33-5AF9-133E0F86D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696" y="5783291"/>
            <a:ext cx="365125" cy="365125"/>
          </a:xfrm>
          <a:prstGeom prst="rect">
            <a:avLst/>
          </a:prstGeom>
        </p:spPr>
      </p:pic>
      <p:pic>
        <p:nvPicPr>
          <p:cNvPr id="21" name="Graphique 20" descr="Microbe avec un remplissage uni">
            <a:extLst>
              <a:ext uri="{FF2B5EF4-FFF2-40B4-BE49-F238E27FC236}">
                <a16:creationId xmlns:a16="http://schemas.microsoft.com/office/drawing/2014/main" id="{E9954FE2-0C92-CBD8-17EE-5623CC5EC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2816" y="3968810"/>
            <a:ext cx="289747" cy="289747"/>
          </a:xfrm>
          <a:prstGeom prst="rect">
            <a:avLst/>
          </a:prstGeom>
        </p:spPr>
      </p:pic>
      <p:pic>
        <p:nvPicPr>
          <p:cNvPr id="22" name="Graphique 21" descr="Microbe avec un remplissage uni">
            <a:extLst>
              <a:ext uri="{FF2B5EF4-FFF2-40B4-BE49-F238E27FC236}">
                <a16:creationId xmlns:a16="http://schemas.microsoft.com/office/drawing/2014/main" id="{A0C2E533-2AB8-522A-7B22-B0B9FEEFD9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344" y="3994744"/>
            <a:ext cx="263813" cy="263813"/>
          </a:xfrm>
          <a:prstGeom prst="rect">
            <a:avLst/>
          </a:prstGeom>
        </p:spPr>
      </p:pic>
      <p:cxnSp>
        <p:nvCxnSpPr>
          <p:cNvPr id="24" name="Connecteur : en arc 23">
            <a:extLst>
              <a:ext uri="{FF2B5EF4-FFF2-40B4-BE49-F238E27FC236}">
                <a16:creationId xmlns:a16="http://schemas.microsoft.com/office/drawing/2014/main" id="{3378DCF5-DA70-A301-EF20-BCDA5272FA19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 flipV="1">
            <a:off x="1613555" y="1575756"/>
            <a:ext cx="964410" cy="1081287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2A145C9C-E47C-B776-4F1A-33D982CB0B3E}"/>
              </a:ext>
            </a:extLst>
          </p:cNvPr>
          <p:cNvCxnSpPr>
            <a:stCxn id="15" idx="3"/>
            <a:endCxn id="7" idx="1"/>
          </p:cNvCxnSpPr>
          <p:nvPr/>
        </p:nvCxnSpPr>
        <p:spPr>
          <a:xfrm>
            <a:off x="1613555" y="2657043"/>
            <a:ext cx="964411" cy="83933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 : en arc 31">
            <a:extLst>
              <a:ext uri="{FF2B5EF4-FFF2-40B4-BE49-F238E27FC236}">
                <a16:creationId xmlns:a16="http://schemas.microsoft.com/office/drawing/2014/main" id="{61692BBF-033B-7989-EC9F-2A3A17A09FF3}"/>
              </a:ext>
            </a:extLst>
          </p:cNvPr>
          <p:cNvCxnSpPr>
            <a:stCxn id="18" idx="3"/>
            <a:endCxn id="7" idx="1"/>
          </p:cNvCxnSpPr>
          <p:nvPr/>
        </p:nvCxnSpPr>
        <p:spPr>
          <a:xfrm flipV="1">
            <a:off x="1613555" y="3496377"/>
            <a:ext cx="964411" cy="1087473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 : en arc 33">
            <a:extLst>
              <a:ext uri="{FF2B5EF4-FFF2-40B4-BE49-F238E27FC236}">
                <a16:creationId xmlns:a16="http://schemas.microsoft.com/office/drawing/2014/main" id="{52C438E5-BF09-FE32-8542-2FC906958B3F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1613555" y="4583850"/>
            <a:ext cx="964410" cy="813897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BF91490-F5F5-4B86-0711-68FE902A93D8}"/>
              </a:ext>
            </a:extLst>
          </p:cNvPr>
          <p:cNvCxnSpPr>
            <a:stCxn id="7" idx="3"/>
          </p:cNvCxnSpPr>
          <p:nvPr/>
        </p:nvCxnSpPr>
        <p:spPr>
          <a:xfrm>
            <a:off x="4360246" y="3496377"/>
            <a:ext cx="490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7">
            <a:extLst>
              <a:ext uri="{FF2B5EF4-FFF2-40B4-BE49-F238E27FC236}">
                <a16:creationId xmlns:a16="http://schemas.microsoft.com/office/drawing/2014/main" id="{AF24B99D-4633-C1AF-2456-65CD272953EA}"/>
              </a:ext>
            </a:extLst>
          </p:cNvPr>
          <p:cNvSpPr txBox="1"/>
          <p:nvPr/>
        </p:nvSpPr>
        <p:spPr>
          <a:xfrm>
            <a:off x="4805515" y="3004163"/>
            <a:ext cx="2280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 monoculture and co-culture growth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2438481-C14F-AAA6-8DF3-8DE553BBF7B7}"/>
              </a:ext>
            </a:extLst>
          </p:cNvPr>
          <p:cNvSpPr txBox="1"/>
          <p:nvPr/>
        </p:nvSpPr>
        <p:spPr>
          <a:xfrm>
            <a:off x="5183404" y="4310856"/>
            <a:ext cx="61746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‘One can, in principle, test this prediction [the predominance of negative interactions] using genomic data and computational methods that try to infer how different bacteria will interact. </a:t>
            </a:r>
            <a:r>
              <a:rPr lang="en-US" b="1" dirty="0"/>
              <a:t>However, the gold standard is to culture bacterial species alone and together and directly assess their ecological interactions</a:t>
            </a:r>
            <a:r>
              <a:rPr lang="en-US" dirty="0"/>
              <a:t>.’</a:t>
            </a:r>
          </a:p>
          <a:p>
            <a:pPr algn="just"/>
            <a:r>
              <a:rPr lang="en-US" dirty="0"/>
              <a:t>-Palmer and Foster (2022) </a:t>
            </a:r>
            <a:r>
              <a:rPr lang="en-US" i="1" dirty="0"/>
              <a:t>Science</a:t>
            </a:r>
            <a:endParaRPr lang="fr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310CF-E681-FDAF-66EF-30E6EA9F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5EC0-49DD-43E2-808A-E13F67CB57E0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3E938-E6C4-EB30-CFD9-F72DE9C2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A4FF7-35E0-DED5-BC4E-76D498BB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97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4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lage of diagrams&#10;&#10;Description automatically generated">
            <a:extLst>
              <a:ext uri="{FF2B5EF4-FFF2-40B4-BE49-F238E27FC236}">
                <a16:creationId xmlns:a16="http://schemas.microsoft.com/office/drawing/2014/main" id="{4BB154D0-6CDA-5CFF-BC93-F830156CDE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56"/>
          <a:stretch/>
        </p:blipFill>
        <p:spPr>
          <a:xfrm>
            <a:off x="199159" y="1878949"/>
            <a:ext cx="11793681" cy="3100102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8C421C14-8ADB-2F2E-2F0A-F5E13E2CF2F2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are microbial interactions usually measured?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EE75D-D8AB-3A73-8BA2-626BCC4F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A2118-1072-4E40-9B39-DD756781D275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7E7B9-278D-5FD3-A799-08507837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46D44-AEE8-4297-F089-F7AFB463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798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688FC-748F-32EC-61E2-D23CFDD863C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000000"/>
                </a:solidFill>
                <a:latin typeface="Calibri" panose="020F0502020204030204"/>
              </a:rPr>
              <a:t>Time-dependencies in plant primary succession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iagram of a tree&#10;&#10;Description automatically generated">
            <a:extLst>
              <a:ext uri="{FF2B5EF4-FFF2-40B4-BE49-F238E27FC236}">
                <a16:creationId xmlns:a16="http://schemas.microsoft.com/office/drawing/2014/main" id="{027C9A26-5901-5972-967C-7FAFB9F31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36" y="1005840"/>
            <a:ext cx="11542527" cy="48463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3811B-308C-AE3F-BFB8-45FF9987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B9F93-4EEB-46E9-8757-9AF9F3A69C4B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FDE1-81FF-AA0C-A2ED-052050CA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A250-1988-EAD7-B78A-BB0277B0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826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A1401-34DC-490E-6A3B-6513F96C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3E75-5131-4C6D-AEE1-D04C58F9C0F3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35FA-BD10-B191-0C24-4C0C0D31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9592-A8AF-53D6-D0B7-0BE1B999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53</a:t>
            </a:fld>
            <a:endParaRPr lang="en-GB"/>
          </a:p>
        </p:txBody>
      </p:sp>
      <p:pic>
        <p:nvPicPr>
          <p:cNvPr id="6" name="Picture 5" descr="A collage of diagrams and graphs&#10;&#10;AI-generated content may be incorrect.">
            <a:extLst>
              <a:ext uri="{FF2B5EF4-FFF2-40B4-BE49-F238E27FC236}">
                <a16:creationId xmlns:a16="http://schemas.microsoft.com/office/drawing/2014/main" id="{9BEF20CC-06EE-B774-ECBD-9B81A3004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44" y="0"/>
            <a:ext cx="8707826" cy="623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81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088E3-3B04-C73D-5331-FF324F53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FBF4C-50BE-47A5-B0AB-DECF7AD52D2F}" type="datetime1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D2569-E6E5-1B24-9AAE-96AFEFB2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Accelerations in microbial ecosystems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11E10-81CB-1791-722D-E1D481CB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CD4C8-8F42-4ECB-BFDA-B6F81272F34A}" type="slidenum">
              <a:rPr lang="en-GB" smtClean="0"/>
              <a:t>54</a:t>
            </a:fld>
            <a:endParaRPr lang="en-GB"/>
          </a:p>
        </p:txBody>
      </p:sp>
      <p:pic>
        <p:nvPicPr>
          <p:cNvPr id="6" name="Picture 5" descr="A diagram of a model&#10;&#10;AI-generated content may be incorrect.">
            <a:extLst>
              <a:ext uri="{FF2B5EF4-FFF2-40B4-BE49-F238E27FC236}">
                <a16:creationId xmlns:a16="http://schemas.microsoft.com/office/drawing/2014/main" id="{88824A3D-2CE2-657D-8D01-4B4DE10C2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76"/>
          <a:stretch>
            <a:fillRect/>
          </a:stretch>
        </p:blipFill>
        <p:spPr>
          <a:xfrm>
            <a:off x="312891" y="486137"/>
            <a:ext cx="11566217" cy="55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061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8981</TotalTime>
  <Words>1884</Words>
  <Application>Microsoft Office PowerPoint</Application>
  <PresentationFormat>Widescreen</PresentationFormat>
  <Paragraphs>449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Aptos</vt:lpstr>
      <vt:lpstr>Arial</vt:lpstr>
      <vt:lpstr>Arial Nova</vt:lpstr>
      <vt:lpstr>Arial Rounded MT Bold</vt:lpstr>
      <vt:lpstr>Calibri</vt:lpstr>
      <vt:lpstr>Calibri Light</vt:lpstr>
      <vt:lpstr>Cambria Math</vt:lpstr>
      <vt:lpstr>Segoe UI</vt:lpstr>
      <vt:lpstr>Retrospect</vt:lpstr>
      <vt:lpstr>Growth accelerations bridge the mechanistic and ecosystem scales in microbiomes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 m</dc:creator>
  <cp:lastModifiedBy>oli m</cp:lastModifiedBy>
  <cp:revision>67</cp:revision>
  <dcterms:created xsi:type="dcterms:W3CDTF">2025-09-18T09:32:36Z</dcterms:created>
  <dcterms:modified xsi:type="dcterms:W3CDTF">2026-07-27T23:47:15Z</dcterms:modified>
</cp:coreProperties>
</file>